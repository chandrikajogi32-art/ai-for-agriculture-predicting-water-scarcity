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7.jpg" ContentType="image/jpeg"/>
  <Override PartName="/ppt/media/image8.jpg" ContentType="image/jpeg"/>
  <Override PartName="/ppt/media/image9.jpg" ContentType="image/jpeg"/>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7" r:id="rId2"/>
    <p:sldId id="258" r:id="rId3"/>
    <p:sldId id="271" r:id="rId4"/>
    <p:sldId id="259" r:id="rId5"/>
    <p:sldId id="260" r:id="rId6"/>
    <p:sldId id="261" r:id="rId7"/>
    <p:sldId id="262" r:id="rId8"/>
    <p:sldId id="264" r:id="rId9"/>
    <p:sldId id="270" r:id="rId10"/>
    <p:sldId id="272" r:id="rId11"/>
    <p:sldId id="267" r:id="rId12"/>
    <p:sldId id="269" r:id="rId13"/>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95BFD87-9991-4758-8928-974FC11265A4}" v="2" dt="2025-12-28T14:04:14.283"/>
    <p1510:client id="{7406F165-DAB1-4107-93F7-1FBC9CEDC007}" v="2" dt="2025-12-28T13:10:22.21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0327" autoAdjust="0"/>
  </p:normalViewPr>
  <p:slideViewPr>
    <p:cSldViewPr>
      <p:cViewPr varScale="1">
        <p:scale>
          <a:sx n="94" d="100"/>
          <a:sy n="94" d="100"/>
        </p:scale>
        <p:origin x="1162" y="6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drika jogi" userId="62ca756742e8e5ec" providerId="LiveId" clId="{BD55707A-D2F7-4533-9898-8414F5D8556B}"/>
    <pc:docChg chg="undo custSel modSld">
      <pc:chgData name="chandrika jogi" userId="62ca756742e8e5ec" providerId="LiveId" clId="{BD55707A-D2F7-4533-9898-8414F5D8556B}" dt="2025-12-28T14:19:36.326" v="34" actId="11529"/>
      <pc:docMkLst>
        <pc:docMk/>
      </pc:docMkLst>
      <pc:sldChg chg="addSp delSp modSp mod">
        <pc:chgData name="chandrika jogi" userId="62ca756742e8e5ec" providerId="LiveId" clId="{BD55707A-D2F7-4533-9898-8414F5D8556B}" dt="2025-12-28T14:19:36.326" v="34" actId="11529"/>
        <pc:sldMkLst>
          <pc:docMk/>
          <pc:sldMk cId="0" sldId="257"/>
        </pc:sldMkLst>
        <pc:spChg chg="add del mod">
          <ac:chgData name="chandrika jogi" userId="62ca756742e8e5ec" providerId="LiveId" clId="{BD55707A-D2F7-4533-9898-8414F5D8556B}" dt="2025-12-28T14:17:56.706" v="19" actId="478"/>
          <ac:spMkLst>
            <pc:docMk/>
            <pc:sldMk cId="0" sldId="257"/>
            <ac:spMk id="4" creationId="{288A14A6-02D6-C372-17CF-E9B47F03FCDE}"/>
          </ac:spMkLst>
        </pc:spChg>
        <pc:spChg chg="add del mod">
          <ac:chgData name="chandrika jogi" userId="62ca756742e8e5ec" providerId="LiveId" clId="{BD55707A-D2F7-4533-9898-8414F5D8556B}" dt="2025-12-28T14:19:36.326" v="34" actId="11529"/>
          <ac:spMkLst>
            <pc:docMk/>
            <pc:sldMk cId="0" sldId="257"/>
            <ac:spMk id="5" creationId="{70D2F6EB-43C4-4B6F-D4D5-47845A45C096}"/>
          </ac:spMkLst>
        </pc:spChg>
      </pc:sldChg>
      <pc:sldChg chg="modSp mod">
        <pc:chgData name="chandrika jogi" userId="62ca756742e8e5ec" providerId="LiveId" clId="{BD55707A-D2F7-4533-9898-8414F5D8556B}" dt="2025-12-28T14:08:14.217" v="10" actId="20577"/>
        <pc:sldMkLst>
          <pc:docMk/>
          <pc:sldMk cId="0" sldId="267"/>
        </pc:sldMkLst>
        <pc:spChg chg="mod">
          <ac:chgData name="chandrika jogi" userId="62ca756742e8e5ec" providerId="LiveId" clId="{BD55707A-D2F7-4533-9898-8414F5D8556B}" dt="2025-12-28T14:08:14.217" v="10" actId="20577"/>
          <ac:spMkLst>
            <pc:docMk/>
            <pc:sldMk cId="0" sldId="267"/>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CB74A01C-4F79-417D-8D62-A48488EDB382}" type="datetimeFigureOut">
              <a:rPr lang="en-IN" smtClean="0"/>
              <a:t>28-12-2025</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4B8B6B25-22E8-4CEC-BE52-049BCD37874E}" type="slidenum">
              <a:rPr lang="en-IN" smtClean="0"/>
              <a:t>‹#›</a:t>
            </a:fld>
            <a:endParaRPr lang="en-IN"/>
          </a:p>
        </p:txBody>
      </p:sp>
    </p:spTree>
    <p:extLst>
      <p:ext uri="{BB962C8B-B14F-4D97-AF65-F5344CB8AC3E}">
        <p14:creationId xmlns:p14="http://schemas.microsoft.com/office/powerpoint/2010/main" val="2995531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8B6B25-22E8-4CEC-BE52-049BCD37874E}" type="slidenum">
              <a:rPr lang="en-IN" smtClean="0"/>
              <a:t>2</a:t>
            </a:fld>
            <a:endParaRPr lang="en-IN"/>
          </a:p>
        </p:txBody>
      </p:sp>
    </p:spTree>
    <p:extLst>
      <p:ext uri="{BB962C8B-B14F-4D97-AF65-F5344CB8AC3E}">
        <p14:creationId xmlns:p14="http://schemas.microsoft.com/office/powerpoint/2010/main" val="386241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4900" b="1" i="0">
                <a:solidFill>
                  <a:schemeClr val="tx1"/>
                </a:solidFill>
                <a:latin typeface="Calibri"/>
                <a:cs typeface="Calibri"/>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1500" b="0" i="0">
                <a:solidFill>
                  <a:srgbClr val="434343"/>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900" b="1"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500" b="0" i="0">
                <a:solidFill>
                  <a:srgbClr val="434343"/>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12/28/2025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900" b="1" i="0">
                <a:solidFill>
                  <a:schemeClr val="tx1"/>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12/28/2025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4000" cy="5143500"/>
          </a:xfrm>
          <a:prstGeom prst="rect">
            <a:avLst/>
          </a:prstGeom>
        </p:spPr>
      </p:pic>
      <p:sp>
        <p:nvSpPr>
          <p:cNvPr id="2" name="Holder 2"/>
          <p:cNvSpPr>
            <a:spLocks noGrp="1"/>
          </p:cNvSpPr>
          <p:nvPr>
            <p:ph type="title"/>
          </p:nvPr>
        </p:nvSpPr>
        <p:spPr/>
        <p:txBody>
          <a:bodyPr lIns="0" tIns="0" rIns="0" bIns="0"/>
          <a:lstStyle>
            <a:lvl1pPr>
              <a:defRPr sz="4900" b="1"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12/28/2025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12/28/2025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16300" y="4011083"/>
            <a:ext cx="3243579" cy="772160"/>
          </a:xfrm>
          <a:prstGeom prst="rect">
            <a:avLst/>
          </a:prstGeom>
        </p:spPr>
        <p:txBody>
          <a:bodyPr wrap="square" lIns="0" tIns="0" rIns="0" bIns="0">
            <a:spAutoFit/>
          </a:bodyPr>
          <a:lstStyle>
            <a:lvl1pPr>
              <a:defRPr sz="4900" b="1" i="0">
                <a:solidFill>
                  <a:schemeClr val="tx1"/>
                </a:solidFill>
                <a:latin typeface="Calibri"/>
                <a:cs typeface="Calibri"/>
              </a:defRPr>
            </a:lvl1pPr>
          </a:lstStyle>
          <a:p>
            <a:endParaRPr/>
          </a:p>
        </p:txBody>
      </p:sp>
      <p:sp>
        <p:nvSpPr>
          <p:cNvPr id="3" name="Holder 3"/>
          <p:cNvSpPr>
            <a:spLocks noGrp="1"/>
          </p:cNvSpPr>
          <p:nvPr>
            <p:ph type="body" idx="1"/>
          </p:nvPr>
        </p:nvSpPr>
        <p:spPr>
          <a:xfrm>
            <a:off x="796462" y="1776680"/>
            <a:ext cx="7609205" cy="1854200"/>
          </a:xfrm>
          <a:prstGeom prst="rect">
            <a:avLst/>
          </a:prstGeom>
        </p:spPr>
        <p:txBody>
          <a:bodyPr wrap="square" lIns="0" tIns="0" rIns="0" bIns="0">
            <a:spAutoFit/>
          </a:bodyPr>
          <a:lstStyle>
            <a:lvl1pPr>
              <a:defRPr sz="1500" b="0" i="0">
                <a:solidFill>
                  <a:srgbClr val="434343"/>
                </a:solidFill>
                <a:latin typeface="Calibri"/>
                <a:cs typeface="Calibri"/>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12/28/2025</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3.png"/><Relationship Id="rId1" Type="http://schemas.openxmlformats.org/officeDocument/2006/relationships/slideLayout" Target="../slideLayouts/slideLayout5.xml"/><Relationship Id="rId4" Type="http://schemas.openxmlformats.org/officeDocument/2006/relationships/image" Target="../media/image8.jpg"/></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chandrikajogi32-art/AI-for-Agriculture-Predicting-Water-Scarcity/blob/main/README.md" TargetMode="External"/><Relationship Id="rId2" Type="http://schemas.openxmlformats.org/officeDocument/2006/relationships/hyperlink" Target="https://github.com/chandrikajogi32-art/ai-water-scarcity" TargetMode="Externa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5624" y="3259006"/>
            <a:ext cx="8908375" cy="1679947"/>
          </a:xfrm>
          <a:prstGeom prst="rect">
            <a:avLst/>
          </a:prstGeom>
        </p:spPr>
        <p:txBody>
          <a:bodyPr vert="horz" wrap="square" lIns="0" tIns="12700" rIns="0" bIns="0" rtlCol="0">
            <a:spAutoFit/>
          </a:bodyPr>
          <a:lstStyle/>
          <a:p>
            <a:pPr marL="12700">
              <a:lnSpc>
                <a:spcPct val="100000"/>
              </a:lnSpc>
              <a:spcBef>
                <a:spcPts val="100"/>
              </a:spcBef>
            </a:pPr>
            <a:r>
              <a:rPr sz="1800" b="1" spc="110" dirty="0">
                <a:solidFill>
                  <a:srgbClr val="434343"/>
                </a:solidFill>
                <a:latin typeface="Calibri"/>
                <a:cs typeface="Calibri"/>
              </a:rPr>
              <a:t>Team</a:t>
            </a:r>
            <a:r>
              <a:rPr sz="1800" b="1" spc="20" dirty="0">
                <a:solidFill>
                  <a:srgbClr val="434343"/>
                </a:solidFill>
                <a:latin typeface="Calibri"/>
                <a:cs typeface="Calibri"/>
              </a:rPr>
              <a:t> </a:t>
            </a:r>
            <a:r>
              <a:rPr sz="1800" b="1" spc="95" dirty="0">
                <a:solidFill>
                  <a:srgbClr val="434343"/>
                </a:solidFill>
                <a:latin typeface="Calibri"/>
                <a:cs typeface="Calibri"/>
              </a:rPr>
              <a:t>Details</a:t>
            </a:r>
            <a:endParaRPr sz="1800" dirty="0">
              <a:latin typeface="Calibri"/>
              <a:cs typeface="Calibri"/>
            </a:endParaRPr>
          </a:p>
          <a:p>
            <a:pPr marL="926465" indent="-421005">
              <a:lnSpc>
                <a:spcPct val="100000"/>
              </a:lnSpc>
              <a:spcBef>
                <a:spcPts val="2160"/>
              </a:spcBef>
              <a:buAutoNum type="alphaLcPeriod"/>
              <a:tabLst>
                <a:tab pos="926465" algn="l"/>
              </a:tabLst>
            </a:pPr>
            <a:r>
              <a:rPr b="1" spc="110" dirty="0">
                <a:solidFill>
                  <a:srgbClr val="434343"/>
                </a:solidFill>
                <a:latin typeface="Calibri"/>
                <a:cs typeface="Calibri"/>
              </a:rPr>
              <a:t>Team</a:t>
            </a:r>
            <a:r>
              <a:rPr b="1" spc="20" dirty="0">
                <a:solidFill>
                  <a:srgbClr val="434343"/>
                </a:solidFill>
                <a:latin typeface="Calibri"/>
                <a:cs typeface="Calibri"/>
              </a:rPr>
              <a:t> </a:t>
            </a:r>
            <a:r>
              <a:rPr b="1" spc="100" dirty="0">
                <a:solidFill>
                  <a:srgbClr val="434343"/>
                </a:solidFill>
                <a:latin typeface="Calibri"/>
                <a:cs typeface="Calibri"/>
              </a:rPr>
              <a:t>name:</a:t>
            </a:r>
            <a:r>
              <a:rPr lang="en-US" b="1" spc="100" dirty="0">
                <a:solidFill>
                  <a:srgbClr val="434343"/>
                </a:solidFill>
                <a:latin typeface="Calibri"/>
                <a:cs typeface="Calibri"/>
              </a:rPr>
              <a:t> INNOVA TRIX</a:t>
            </a:r>
            <a:endParaRPr dirty="0">
              <a:latin typeface="Calibri"/>
              <a:cs typeface="Calibri"/>
            </a:endParaRPr>
          </a:p>
          <a:p>
            <a:pPr marL="926465" indent="-433070">
              <a:lnSpc>
                <a:spcPct val="100000"/>
              </a:lnSpc>
              <a:buAutoNum type="alphaLcPeriod"/>
              <a:tabLst>
                <a:tab pos="926465" algn="l"/>
              </a:tabLst>
            </a:pPr>
            <a:r>
              <a:rPr b="1" spc="110" dirty="0">
                <a:solidFill>
                  <a:srgbClr val="434343"/>
                </a:solidFill>
                <a:latin typeface="Calibri"/>
                <a:cs typeface="Calibri"/>
              </a:rPr>
              <a:t>Team</a:t>
            </a:r>
            <a:r>
              <a:rPr b="1" spc="25" dirty="0">
                <a:solidFill>
                  <a:srgbClr val="434343"/>
                </a:solidFill>
                <a:latin typeface="Calibri"/>
                <a:cs typeface="Calibri"/>
              </a:rPr>
              <a:t> </a:t>
            </a:r>
            <a:r>
              <a:rPr b="1" spc="114" dirty="0">
                <a:solidFill>
                  <a:srgbClr val="434343"/>
                </a:solidFill>
                <a:latin typeface="Calibri"/>
                <a:cs typeface="Calibri"/>
              </a:rPr>
              <a:t>leader</a:t>
            </a:r>
            <a:r>
              <a:rPr b="1" spc="25" dirty="0">
                <a:solidFill>
                  <a:srgbClr val="434343"/>
                </a:solidFill>
                <a:latin typeface="Calibri"/>
                <a:cs typeface="Calibri"/>
              </a:rPr>
              <a:t> </a:t>
            </a:r>
            <a:r>
              <a:rPr b="1" spc="90" dirty="0">
                <a:solidFill>
                  <a:srgbClr val="434343"/>
                </a:solidFill>
                <a:latin typeface="Calibri"/>
                <a:cs typeface="Calibri"/>
              </a:rPr>
              <a:t>name:</a:t>
            </a:r>
            <a:r>
              <a:rPr lang="en-US" b="1" spc="90" dirty="0">
                <a:solidFill>
                  <a:srgbClr val="434343"/>
                </a:solidFill>
                <a:latin typeface="Calibri"/>
                <a:cs typeface="Calibri"/>
              </a:rPr>
              <a:t> </a:t>
            </a:r>
            <a:r>
              <a:rPr lang="en-US" b="1" spc="90" dirty="0" err="1">
                <a:solidFill>
                  <a:srgbClr val="434343"/>
                </a:solidFill>
                <a:latin typeface="Calibri"/>
                <a:cs typeface="Calibri"/>
              </a:rPr>
              <a:t>J.chandrika</a:t>
            </a:r>
            <a:endParaRPr dirty="0">
              <a:latin typeface="Calibri"/>
              <a:cs typeface="Calibri"/>
            </a:endParaRPr>
          </a:p>
          <a:p>
            <a:pPr marL="926465" indent="-422909">
              <a:lnSpc>
                <a:spcPct val="100000"/>
              </a:lnSpc>
              <a:buAutoNum type="alphaLcPeriod"/>
              <a:tabLst>
                <a:tab pos="926465" algn="l"/>
              </a:tabLst>
            </a:pPr>
            <a:r>
              <a:rPr b="1" spc="114" dirty="0">
                <a:solidFill>
                  <a:srgbClr val="434343"/>
                </a:solidFill>
                <a:latin typeface="Calibri"/>
                <a:cs typeface="Calibri"/>
              </a:rPr>
              <a:t>Problem</a:t>
            </a:r>
            <a:r>
              <a:rPr b="1" spc="15" dirty="0">
                <a:solidFill>
                  <a:srgbClr val="434343"/>
                </a:solidFill>
                <a:latin typeface="Calibri"/>
                <a:cs typeface="Calibri"/>
              </a:rPr>
              <a:t> </a:t>
            </a:r>
            <a:r>
              <a:rPr b="1" spc="105" dirty="0">
                <a:solidFill>
                  <a:srgbClr val="434343"/>
                </a:solidFill>
                <a:latin typeface="Calibri"/>
                <a:cs typeface="Calibri"/>
              </a:rPr>
              <a:t>Statement:</a:t>
            </a:r>
            <a:r>
              <a:rPr lang="en-US" b="1" spc="105" dirty="0">
                <a:solidFill>
                  <a:srgbClr val="434343"/>
                </a:solidFill>
                <a:latin typeface="Calibri"/>
                <a:cs typeface="Calibri"/>
              </a:rPr>
              <a:t> AI-for-Agriculture-Predicting-Water-Scarcity-and           Crop-Failure</a:t>
            </a:r>
            <a:endParaRPr dirty="0">
              <a:latin typeface="Calibri"/>
              <a:cs typeface="Calibri"/>
            </a:endParaRPr>
          </a:p>
        </p:txBody>
      </p:sp>
      <p:pic>
        <p:nvPicPr>
          <p:cNvPr id="3" name="object 3"/>
          <p:cNvPicPr/>
          <p:nvPr/>
        </p:nvPicPr>
        <p:blipFill>
          <a:blip r:embed="rId2" cstate="print"/>
          <a:stretch>
            <a:fillRect/>
          </a:stretch>
        </p:blipFill>
        <p:spPr>
          <a:xfrm>
            <a:off x="0" y="0"/>
            <a:ext cx="9085198" cy="30283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3" cstate="print"/>
          <a:stretch>
            <a:fillRect/>
          </a:stretch>
        </p:blipFill>
        <p:spPr>
          <a:xfrm>
            <a:off x="159800" y="174174"/>
            <a:ext cx="1826526" cy="327424"/>
          </a:xfrm>
          <a:prstGeom prst="rect">
            <a:avLst/>
          </a:prstGeom>
        </p:spPr>
      </p:pic>
      <p:sp>
        <p:nvSpPr>
          <p:cNvPr id="11" name="Title 10">
            <a:extLst>
              <a:ext uri="{FF2B5EF4-FFF2-40B4-BE49-F238E27FC236}">
                <a16:creationId xmlns:a16="http://schemas.microsoft.com/office/drawing/2014/main" id="{47AD730B-9A48-1E37-B3DB-2815F8A30D30}"/>
              </a:ext>
            </a:extLst>
          </p:cNvPr>
          <p:cNvSpPr>
            <a:spLocks noGrp="1"/>
          </p:cNvSpPr>
          <p:nvPr>
            <p:ph type="title"/>
          </p:nvPr>
        </p:nvSpPr>
        <p:spPr>
          <a:xfrm>
            <a:off x="159801" y="561503"/>
            <a:ext cx="9289000" cy="800219"/>
          </a:xfrm>
        </p:spPr>
        <p:txBody>
          <a:bodyPr/>
          <a:lstStyle/>
          <a:p>
            <a:r>
              <a:rPr lang="en-US" sz="1600" dirty="0"/>
              <a:t>                                                                            </a:t>
            </a:r>
            <a:r>
              <a:rPr lang="en-US" sz="2000" dirty="0"/>
              <a:t>Problem statement:</a:t>
            </a:r>
            <a:br>
              <a:rPr lang="en-US" sz="1600" dirty="0"/>
            </a:br>
            <a:r>
              <a:rPr lang="en-US" sz="1600" dirty="0"/>
              <a:t>       </a:t>
            </a:r>
            <a:r>
              <a:rPr lang="en-US" sz="1600" b="0" dirty="0"/>
              <a:t>“An AI-powered sensor system that protects crops and saves water by alerting farmers before</a:t>
            </a:r>
            <a:br>
              <a:rPr lang="en-US" sz="1600" b="0" dirty="0"/>
            </a:br>
            <a:r>
              <a:rPr lang="en-US" sz="1600" b="0" dirty="0"/>
              <a:t> failure occurs.”</a:t>
            </a:r>
            <a:endParaRPr lang="en-IN" sz="1600" b="0" dirty="0"/>
          </a:p>
        </p:txBody>
      </p:sp>
      <p:sp>
        <p:nvSpPr>
          <p:cNvPr id="58" name="Subtitle 57">
            <a:extLst>
              <a:ext uri="{FF2B5EF4-FFF2-40B4-BE49-F238E27FC236}">
                <a16:creationId xmlns:a16="http://schemas.microsoft.com/office/drawing/2014/main" id="{C2527B4B-632C-0411-9DE3-81097BCF76E7}"/>
              </a:ext>
            </a:extLst>
          </p:cNvPr>
          <p:cNvSpPr>
            <a:spLocks noGrp="1"/>
          </p:cNvSpPr>
          <p:nvPr>
            <p:ph sz="half" idx="2"/>
          </p:nvPr>
        </p:nvSpPr>
        <p:spPr>
          <a:xfrm>
            <a:off x="381000" y="3652911"/>
            <a:ext cx="4191000" cy="461665"/>
          </a:xfrm>
        </p:spPr>
        <p:txBody>
          <a:bodyPr/>
          <a:lstStyle/>
          <a:p>
            <a:endParaRPr lang="en-US" dirty="0"/>
          </a:p>
          <a:p>
            <a:endParaRPr lang="en-IN" dirty="0"/>
          </a:p>
        </p:txBody>
      </p:sp>
      <p:sp>
        <p:nvSpPr>
          <p:cNvPr id="13" name="Rectangle 43">
            <a:extLst>
              <a:ext uri="{FF2B5EF4-FFF2-40B4-BE49-F238E27FC236}">
                <a16:creationId xmlns:a16="http://schemas.microsoft.com/office/drawing/2014/main" id="{66DB85B3-F80D-AD63-1771-12281EF44064}"/>
              </a:ext>
            </a:extLst>
          </p:cNvPr>
          <p:cNvSpPr>
            <a:spLocks noChangeArrowheads="1"/>
          </p:cNvSpPr>
          <p:nvPr/>
        </p:nvSpPr>
        <p:spPr bwMode="auto">
          <a:xfrm>
            <a:off x="3556191" y="990600"/>
            <a:ext cx="798053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112" tIns="914112" rIns="914112" bIns="484035" numCol="1" anchor="ctr" anchorCtr="0" compatLnSpc="1">
            <a:prstTxWarp prst="textNoShape">
              <a:avLst/>
            </a:prstTxWarp>
            <a:spAutoFit/>
          </a:bodyPr>
          <a:lstStyle/>
          <a:p>
            <a:endParaRPr lang="en-IN"/>
          </a:p>
        </p:txBody>
      </p:sp>
      <p:sp>
        <p:nvSpPr>
          <p:cNvPr id="56" name="Rectangle 57">
            <a:extLst>
              <a:ext uri="{FF2B5EF4-FFF2-40B4-BE49-F238E27FC236}">
                <a16:creationId xmlns:a16="http://schemas.microsoft.com/office/drawing/2014/main" id="{6BD08AFF-C026-01C5-6CCD-F1A86C2F0F62}"/>
              </a:ext>
            </a:extLst>
          </p:cNvPr>
          <p:cNvSpPr>
            <a:spLocks noChangeArrowheads="1"/>
          </p:cNvSpPr>
          <p:nvPr/>
        </p:nvSpPr>
        <p:spPr bwMode="auto">
          <a:xfrm>
            <a:off x="3556191" y="5192782"/>
            <a:ext cx="7980532"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a:ln>
                <a:noFill/>
              </a:ln>
              <a:solidFill>
                <a:srgbClr val="000000"/>
              </a:solidFill>
              <a:effectLst/>
              <a:latin typeface="Arial" panose="020B0604020202020204" pitchFamily="34" charset="0"/>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100" b="0" i="0" u="none" strike="noStrike" cap="none" normalizeH="0" baseline="0">
                <a:ln>
                  <a:noFill/>
                </a:ln>
                <a:solidFill>
                  <a:srgbClr val="000000"/>
                </a:solidFill>
                <a:effectLst/>
                <a:latin typeface="Arial" panose="020B0604020202020204" pitchFamily="34" charset="0"/>
                <a:ea typeface="Calibri" panose="020F050202020403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 name="Content Placeholder 19">
            <a:extLst>
              <a:ext uri="{FF2B5EF4-FFF2-40B4-BE49-F238E27FC236}">
                <a16:creationId xmlns:a16="http://schemas.microsoft.com/office/drawing/2014/main" id="{2CA50A31-8E7F-C22A-B210-1A52D83EB1AE}"/>
              </a:ext>
            </a:extLst>
          </p:cNvPr>
          <p:cNvSpPr>
            <a:spLocks noGrp="1"/>
          </p:cNvSpPr>
          <p:nvPr>
            <p:ph sz="half" idx="3"/>
          </p:nvPr>
        </p:nvSpPr>
        <p:spPr>
          <a:xfrm>
            <a:off x="361367" y="4266206"/>
            <a:ext cx="8610600" cy="523220"/>
          </a:xfrm>
        </p:spPr>
        <p:txBody>
          <a:bodyPr/>
          <a:lstStyle/>
          <a:p>
            <a:r>
              <a:rPr lang="en-US" dirty="0"/>
              <a:t>      </a:t>
            </a:r>
            <a:r>
              <a:rPr lang="en-US" sz="1800" b="1" i="1" dirty="0">
                <a:solidFill>
                  <a:schemeClr val="accent2">
                    <a:lumMod val="50000"/>
                  </a:schemeClr>
                </a:solidFill>
              </a:rPr>
              <a:t>One-Line Impact Statement</a:t>
            </a:r>
            <a:r>
              <a:rPr lang="en-US" sz="1800" dirty="0"/>
              <a:t> </a:t>
            </a:r>
            <a:r>
              <a:rPr lang="en-US" dirty="0"/>
              <a:t>:“</a:t>
            </a:r>
            <a:r>
              <a:rPr lang="en-US" sz="1600" dirty="0"/>
              <a:t>Turning agricultural data into early warnings—because preventing crop failure is a smarter opportunity than recovering from loss.”</a:t>
            </a:r>
            <a:endParaRPr lang="en-IN" sz="1600" dirty="0"/>
          </a:p>
        </p:txBody>
      </p:sp>
      <p:sp>
        <p:nvSpPr>
          <p:cNvPr id="24" name="Rectangle 23">
            <a:extLst>
              <a:ext uri="{FF2B5EF4-FFF2-40B4-BE49-F238E27FC236}">
                <a16:creationId xmlns:a16="http://schemas.microsoft.com/office/drawing/2014/main" id="{4F95A261-48DE-CDC5-4681-31B2BA77EAF5}"/>
              </a:ext>
            </a:extLst>
          </p:cNvPr>
          <p:cNvSpPr/>
          <p:nvPr/>
        </p:nvSpPr>
        <p:spPr>
          <a:xfrm>
            <a:off x="838200" y="1733550"/>
            <a:ext cx="2057400" cy="2130316"/>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 </a:t>
            </a:r>
          </a:p>
          <a:p>
            <a:pPr algn="ctr"/>
            <a:r>
              <a:rPr lang="en-US" sz="1600" b="1" dirty="0">
                <a:solidFill>
                  <a:schemeClr val="tx1"/>
                </a:solidFill>
              </a:rPr>
              <a:t>Water Scarcity Prediction</a:t>
            </a:r>
            <a:endParaRPr lang="en-US" sz="1400" b="1" dirty="0">
              <a:solidFill>
                <a:schemeClr val="tx1"/>
              </a:solidFill>
            </a:endParaRPr>
          </a:p>
          <a:p>
            <a:pPr algn="ctr"/>
            <a:r>
              <a:rPr lang="en-US" sz="1400" dirty="0">
                <a:solidFill>
                  <a:schemeClr val="tx1"/>
                </a:solidFill>
              </a:rPr>
              <a:t>Farmers cannot foresee water scarcity due to invisible soil and groundwater changes. Sudden borewell depletion causes unexpected water stress.</a:t>
            </a:r>
            <a:endParaRPr lang="en-US" sz="1400" dirty="0"/>
          </a:p>
          <a:p>
            <a:pPr algn="ctr"/>
            <a:endParaRPr lang="en-IN" sz="1400" dirty="0"/>
          </a:p>
        </p:txBody>
      </p:sp>
      <p:sp>
        <p:nvSpPr>
          <p:cNvPr id="25" name="Rectangle 24">
            <a:extLst>
              <a:ext uri="{FF2B5EF4-FFF2-40B4-BE49-F238E27FC236}">
                <a16:creationId xmlns:a16="http://schemas.microsoft.com/office/drawing/2014/main" id="{A38E506D-4371-EF4B-C070-028E21A7A5DE}"/>
              </a:ext>
            </a:extLst>
          </p:cNvPr>
          <p:cNvSpPr/>
          <p:nvPr/>
        </p:nvSpPr>
        <p:spPr>
          <a:xfrm>
            <a:off x="3677978" y="1733550"/>
            <a:ext cx="2057400" cy="2130316"/>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rPr>
              <a:t>Crop Stress &amp; Failure Detection</a:t>
            </a:r>
          </a:p>
          <a:p>
            <a:pPr algn="ctr"/>
            <a:r>
              <a:rPr lang="en-US" sz="1400" dirty="0">
                <a:solidFill>
                  <a:schemeClr val="tx1"/>
                </a:solidFill>
              </a:rPr>
              <a:t>Early crop stress from heat and water shortage often goes undetected. This results in sudden yield loss and crop failure. </a:t>
            </a:r>
            <a:endParaRPr lang="en-IN" sz="1400" dirty="0">
              <a:solidFill>
                <a:schemeClr val="tx1"/>
              </a:solidFill>
            </a:endParaRPr>
          </a:p>
        </p:txBody>
      </p:sp>
      <p:sp>
        <p:nvSpPr>
          <p:cNvPr id="26" name="Rectangle 25">
            <a:extLst>
              <a:ext uri="{FF2B5EF4-FFF2-40B4-BE49-F238E27FC236}">
                <a16:creationId xmlns:a16="http://schemas.microsoft.com/office/drawing/2014/main" id="{7307D4A1-C00E-50C2-9A28-502AA73EEF21}"/>
              </a:ext>
            </a:extLst>
          </p:cNvPr>
          <p:cNvSpPr/>
          <p:nvPr/>
        </p:nvSpPr>
        <p:spPr>
          <a:xfrm>
            <a:off x="6629400" y="1732627"/>
            <a:ext cx="2057400" cy="2130316"/>
          </a:xfrm>
          <a:prstGeom prst="rect">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b="1" dirty="0">
              <a:solidFill>
                <a:schemeClr val="tx1"/>
              </a:solidFill>
            </a:endParaRPr>
          </a:p>
          <a:p>
            <a:pPr algn="ctr"/>
            <a:r>
              <a:rPr lang="en-US" sz="1600" b="1" dirty="0">
                <a:solidFill>
                  <a:schemeClr val="tx1"/>
                </a:solidFill>
              </a:rPr>
              <a:t>Farmer Accessibility &amp; Action Gap</a:t>
            </a:r>
          </a:p>
          <a:p>
            <a:pPr algn="ctr"/>
            <a:r>
              <a:rPr lang="en-US" sz="1400" dirty="0">
                <a:solidFill>
                  <a:schemeClr val="tx1"/>
                </a:solidFill>
              </a:rPr>
              <a:t>Farmers lack simple , real-time tools for irrigation decisions . Delayed action leads to inefficient water use and preventable crop loss.</a:t>
            </a:r>
          </a:p>
          <a:p>
            <a:pPr algn="ct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3">
            <a:extLst>
              <a:ext uri="{FF2B5EF4-FFF2-40B4-BE49-F238E27FC236}">
                <a16:creationId xmlns:a16="http://schemas.microsoft.com/office/drawing/2014/main" id="{C65D1C86-C3AB-E391-3036-30FF4F3BCB01}"/>
              </a:ext>
            </a:extLst>
          </p:cNvPr>
          <p:cNvPicPr/>
          <p:nvPr/>
        </p:nvPicPr>
        <p:blipFill>
          <a:blip r:embed="rId2" cstate="print"/>
          <a:stretch>
            <a:fillRect/>
          </a:stretch>
        </p:blipFill>
        <p:spPr>
          <a:xfrm>
            <a:off x="159800" y="174174"/>
            <a:ext cx="1826526" cy="327424"/>
          </a:xfrm>
          <a:prstGeom prst="rect">
            <a:avLst/>
          </a:prstGeom>
        </p:spPr>
      </p:pic>
      <p:sp>
        <p:nvSpPr>
          <p:cNvPr id="3" name="Title 2">
            <a:extLst>
              <a:ext uri="{FF2B5EF4-FFF2-40B4-BE49-F238E27FC236}">
                <a16:creationId xmlns:a16="http://schemas.microsoft.com/office/drawing/2014/main" id="{909128E0-7410-CB44-2C14-97B1EC0DE654}"/>
              </a:ext>
            </a:extLst>
          </p:cNvPr>
          <p:cNvSpPr>
            <a:spLocks noGrp="1"/>
          </p:cNvSpPr>
          <p:nvPr>
            <p:ph type="title"/>
          </p:nvPr>
        </p:nvSpPr>
        <p:spPr>
          <a:xfrm>
            <a:off x="762000" y="666750"/>
            <a:ext cx="8229599" cy="307777"/>
          </a:xfrm>
        </p:spPr>
        <p:txBody>
          <a:bodyPr/>
          <a:lstStyle/>
          <a:p>
            <a:pPr algn="ctr"/>
            <a:r>
              <a:rPr lang="en-US" sz="2000" dirty="0"/>
              <a:t>Brief about your solution and problem statement addressing </a:t>
            </a:r>
            <a:endParaRPr lang="en-IN" sz="2000" dirty="0"/>
          </a:p>
        </p:txBody>
      </p:sp>
      <p:sp>
        <p:nvSpPr>
          <p:cNvPr id="4" name="Text Placeholder 3">
            <a:extLst>
              <a:ext uri="{FF2B5EF4-FFF2-40B4-BE49-F238E27FC236}">
                <a16:creationId xmlns:a16="http://schemas.microsoft.com/office/drawing/2014/main" id="{863E8BA5-512E-269B-4685-4377635F616D}"/>
              </a:ext>
            </a:extLst>
          </p:cNvPr>
          <p:cNvSpPr>
            <a:spLocks noGrp="1"/>
          </p:cNvSpPr>
          <p:nvPr>
            <p:ph type="body" idx="1"/>
          </p:nvPr>
        </p:nvSpPr>
        <p:spPr>
          <a:xfrm>
            <a:off x="4742696" y="1341120"/>
            <a:ext cx="4075192" cy="3790950"/>
          </a:xfrm>
        </p:spPr>
        <p:txBody>
          <a:bodyPr/>
          <a:lstStyle/>
          <a:p>
            <a:r>
              <a:rPr lang="en-US" sz="1600" dirty="0"/>
              <a:t>  An AI-powered, solar-driven agriculture monitoring system that integrates soil, groundwater, weather, and crop health sensors to predict water scarcity and crop failure in advance. By analyzing real-time field data along with historical drought patterns and crop requirements, the system identifies early signs of water stress, irrigation insufficiency, and crop health degradation. The solution delivers simple visual and audio alerts to farmers, enabling timely irrigation decisions, efficient water usage, and prevention of sudden crop loss without relying on smartphones or complex interfaces</a:t>
            </a:r>
            <a:r>
              <a:rPr lang="en-US" dirty="0"/>
              <a:t>.</a:t>
            </a:r>
            <a:endParaRPr lang="en-IN" dirty="0"/>
          </a:p>
        </p:txBody>
      </p:sp>
      <p:pic>
        <p:nvPicPr>
          <p:cNvPr id="1028" name="Picture 4" descr="Top Agriculture Monitoring System For Yield Boosts">
            <a:extLst>
              <a:ext uri="{FF2B5EF4-FFF2-40B4-BE49-F238E27FC236}">
                <a16:creationId xmlns:a16="http://schemas.microsoft.com/office/drawing/2014/main" id="{20E9B86B-0E2C-B203-A360-289822C079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23950"/>
            <a:ext cx="4572000" cy="4019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52701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159800" y="174174"/>
            <a:ext cx="1826526" cy="327424"/>
          </a:xfrm>
          <a:prstGeom prst="rect">
            <a:avLst/>
          </a:prstGeom>
        </p:spPr>
      </p:pic>
      <p:sp>
        <p:nvSpPr>
          <p:cNvPr id="4" name="Title 3">
            <a:extLst>
              <a:ext uri="{FF2B5EF4-FFF2-40B4-BE49-F238E27FC236}">
                <a16:creationId xmlns:a16="http://schemas.microsoft.com/office/drawing/2014/main" id="{DE1C5D3E-6DD8-68C8-312C-394400657A55}"/>
              </a:ext>
            </a:extLst>
          </p:cNvPr>
          <p:cNvSpPr>
            <a:spLocks noGrp="1"/>
          </p:cNvSpPr>
          <p:nvPr>
            <p:ph type="ctrTitle"/>
          </p:nvPr>
        </p:nvSpPr>
        <p:spPr>
          <a:xfrm>
            <a:off x="540800" y="552023"/>
            <a:ext cx="8298400" cy="369332"/>
          </a:xfrm>
        </p:spPr>
        <p:txBody>
          <a:bodyPr/>
          <a:lstStyle/>
          <a:p>
            <a:r>
              <a:rPr lang="en-US" sz="1800" dirty="0"/>
              <a:t>                                                        </a:t>
            </a:r>
            <a:r>
              <a:rPr lang="en-US" sz="2400" dirty="0"/>
              <a:t>Opportunities</a:t>
            </a:r>
            <a:endParaRPr lang="en-IN" sz="2400" dirty="0"/>
          </a:p>
        </p:txBody>
      </p:sp>
      <p:sp>
        <p:nvSpPr>
          <p:cNvPr id="5" name="Subtitle 4">
            <a:extLst>
              <a:ext uri="{FF2B5EF4-FFF2-40B4-BE49-F238E27FC236}">
                <a16:creationId xmlns:a16="http://schemas.microsoft.com/office/drawing/2014/main" id="{63FD588C-4517-8AEF-5977-41D7AFD128F6}"/>
              </a:ext>
            </a:extLst>
          </p:cNvPr>
          <p:cNvSpPr>
            <a:spLocks noGrp="1"/>
          </p:cNvSpPr>
          <p:nvPr>
            <p:ph type="subTitle" idx="4"/>
          </p:nvPr>
        </p:nvSpPr>
        <p:spPr>
          <a:xfrm>
            <a:off x="457200" y="1047750"/>
            <a:ext cx="7696200" cy="4170372"/>
          </a:xfrm>
        </p:spPr>
        <p:txBody>
          <a:bodyPr/>
          <a:lstStyle/>
          <a:p>
            <a:r>
              <a:rPr lang="en-US" dirty="0"/>
              <a:t>a</a:t>
            </a:r>
            <a:r>
              <a:rPr lang="en-US" sz="1600" dirty="0"/>
              <a:t>. How different is it from any of the other existing ideas?  </a:t>
            </a:r>
          </a:p>
          <a:p>
            <a:endParaRPr lang="en-US" sz="1600" dirty="0"/>
          </a:p>
          <a:p>
            <a:r>
              <a:rPr lang="en-US" sz="1600" b="1" dirty="0"/>
              <a:t>Predictive AI</a:t>
            </a:r>
            <a:r>
              <a:rPr lang="en-US" sz="1600" dirty="0"/>
              <a:t>: Replacing old statistical averages with machine learning (LSTM/</a:t>
            </a:r>
            <a:r>
              <a:rPr lang="en-US" sz="1600" dirty="0" err="1"/>
              <a:t>XGBoost</a:t>
            </a:r>
            <a:r>
              <a:rPr lang="en-US" sz="1600" dirty="0"/>
              <a:t>) to forecast failures months in advance.</a:t>
            </a:r>
          </a:p>
          <a:p>
            <a:r>
              <a:rPr lang="en-US" sz="1600" b="1" dirty="0"/>
              <a:t>Data Fusion</a:t>
            </a:r>
            <a:r>
              <a:rPr lang="en-US" sz="1600" dirty="0"/>
              <a:t>: Combining IoT soil sensors with satellite and drone imagery for precise, plant-level monitoring.</a:t>
            </a:r>
          </a:p>
          <a:p>
            <a:r>
              <a:rPr lang="en-US" sz="1600" b="1" dirty="0"/>
              <a:t>Proactive Precision</a:t>
            </a:r>
            <a:r>
              <a:rPr lang="en-US" sz="1600" dirty="0"/>
              <a:t>: Moving from reactive disaster relief to precision irrigation that prevents crop failure before it occurs.</a:t>
            </a:r>
          </a:p>
          <a:p>
            <a:endParaRPr lang="en-US" sz="1600" dirty="0"/>
          </a:p>
          <a:p>
            <a:r>
              <a:rPr lang="en-US" sz="1600" dirty="0"/>
              <a:t>b. How will it be able to solve the problem?</a:t>
            </a:r>
          </a:p>
          <a:p>
            <a:endParaRPr lang="en-US" sz="1600" dirty="0"/>
          </a:p>
          <a:p>
            <a:r>
              <a:rPr lang="en-US" sz="1600" b="1" dirty="0"/>
              <a:t>AI Precision</a:t>
            </a:r>
            <a:r>
              <a:rPr lang="en-US" sz="1600" dirty="0"/>
              <a:t>: Automated irrigation using IoT sensors to cut water waste by 50%.</a:t>
            </a:r>
          </a:p>
          <a:p>
            <a:r>
              <a:rPr lang="en-US" sz="1600" b="1" dirty="0"/>
              <a:t>Soil Resilience</a:t>
            </a:r>
            <a:r>
              <a:rPr lang="en-US" sz="1600" dirty="0"/>
              <a:t>: Regenerative farming (no-till, cover crops) to store 20,000 extra gallons of water per acre.</a:t>
            </a:r>
          </a:p>
          <a:p>
            <a:r>
              <a:rPr lang="en-US" sz="1600" b="1" dirty="0"/>
              <a:t>New Sources</a:t>
            </a:r>
            <a:r>
              <a:rPr lang="en-US" sz="1600" dirty="0"/>
              <a:t>: Solar-powered water extraction from air and advanced wastewater recycling for decentralized supply.</a:t>
            </a:r>
            <a:endParaRPr lang="en-IN" sz="1600" dirty="0"/>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447800" y="438150"/>
            <a:ext cx="4267200" cy="289823"/>
          </a:xfrm>
          <a:prstGeom prst="rect">
            <a:avLst/>
          </a:prstGeom>
        </p:spPr>
        <p:txBody>
          <a:bodyPr vert="horz" wrap="square" lIns="0" tIns="12700" rIns="0" bIns="0" rtlCol="0">
            <a:spAutoFit/>
          </a:bodyPr>
          <a:lstStyle/>
          <a:p>
            <a:pPr marL="12700">
              <a:lnSpc>
                <a:spcPct val="100000"/>
              </a:lnSpc>
              <a:spcBef>
                <a:spcPts val="100"/>
              </a:spcBef>
            </a:pPr>
            <a:r>
              <a:rPr b="1" spc="130" dirty="0">
                <a:solidFill>
                  <a:srgbClr val="434343"/>
                </a:solidFill>
                <a:latin typeface="+mn-lt"/>
                <a:cs typeface="Calibri"/>
              </a:rPr>
              <a:t>List</a:t>
            </a:r>
            <a:r>
              <a:rPr b="1" spc="25" dirty="0">
                <a:solidFill>
                  <a:srgbClr val="434343"/>
                </a:solidFill>
                <a:latin typeface="+mn-lt"/>
                <a:cs typeface="Calibri"/>
              </a:rPr>
              <a:t> </a:t>
            </a:r>
            <a:r>
              <a:rPr b="1" spc="110" dirty="0">
                <a:solidFill>
                  <a:srgbClr val="434343"/>
                </a:solidFill>
                <a:latin typeface="+mn-lt"/>
                <a:cs typeface="Calibri"/>
              </a:rPr>
              <a:t>of</a:t>
            </a:r>
            <a:r>
              <a:rPr b="1" spc="25" dirty="0">
                <a:solidFill>
                  <a:srgbClr val="434343"/>
                </a:solidFill>
                <a:latin typeface="+mn-lt"/>
                <a:cs typeface="Calibri"/>
              </a:rPr>
              <a:t> </a:t>
            </a:r>
            <a:r>
              <a:rPr b="1" spc="114" dirty="0">
                <a:solidFill>
                  <a:srgbClr val="434343"/>
                </a:solidFill>
                <a:latin typeface="+mn-lt"/>
                <a:cs typeface="Calibri"/>
              </a:rPr>
              <a:t>features</a:t>
            </a:r>
            <a:r>
              <a:rPr b="1" spc="25" dirty="0">
                <a:solidFill>
                  <a:srgbClr val="434343"/>
                </a:solidFill>
                <a:latin typeface="+mn-lt"/>
                <a:cs typeface="Calibri"/>
              </a:rPr>
              <a:t> </a:t>
            </a:r>
            <a:r>
              <a:rPr b="1" spc="105" dirty="0">
                <a:solidFill>
                  <a:srgbClr val="434343"/>
                </a:solidFill>
                <a:latin typeface="+mn-lt"/>
                <a:cs typeface="Calibri"/>
              </a:rPr>
              <a:t>offered</a:t>
            </a:r>
            <a:r>
              <a:rPr b="1" spc="25" dirty="0">
                <a:solidFill>
                  <a:srgbClr val="434343"/>
                </a:solidFill>
                <a:latin typeface="+mn-lt"/>
                <a:cs typeface="Calibri"/>
              </a:rPr>
              <a:t> </a:t>
            </a:r>
            <a:r>
              <a:rPr b="1" spc="145" dirty="0">
                <a:solidFill>
                  <a:srgbClr val="434343"/>
                </a:solidFill>
                <a:latin typeface="+mn-lt"/>
                <a:cs typeface="Calibri"/>
              </a:rPr>
              <a:t>by</a:t>
            </a:r>
            <a:r>
              <a:rPr b="1" spc="25" dirty="0">
                <a:solidFill>
                  <a:srgbClr val="434343"/>
                </a:solidFill>
                <a:latin typeface="+mn-lt"/>
                <a:cs typeface="Calibri"/>
              </a:rPr>
              <a:t> </a:t>
            </a:r>
            <a:r>
              <a:rPr b="1" spc="120" dirty="0">
                <a:solidFill>
                  <a:srgbClr val="434343"/>
                </a:solidFill>
                <a:latin typeface="+mn-lt"/>
                <a:cs typeface="Calibri"/>
              </a:rPr>
              <a:t>the</a:t>
            </a:r>
            <a:r>
              <a:rPr b="1" spc="30" dirty="0">
                <a:solidFill>
                  <a:srgbClr val="434343"/>
                </a:solidFill>
                <a:latin typeface="+mn-lt"/>
                <a:cs typeface="Calibri"/>
              </a:rPr>
              <a:t> </a:t>
            </a:r>
            <a:r>
              <a:rPr b="1" spc="95" dirty="0">
                <a:solidFill>
                  <a:srgbClr val="434343"/>
                </a:solidFill>
                <a:latin typeface="+mn-lt"/>
                <a:cs typeface="Calibri"/>
              </a:rPr>
              <a:t>solution</a:t>
            </a:r>
            <a:endParaRPr dirty="0">
              <a:latin typeface="+mn-lt"/>
              <a:cs typeface="Calibri"/>
            </a:endParaRPr>
          </a:p>
        </p:txBody>
      </p:sp>
      <p:pic>
        <p:nvPicPr>
          <p:cNvPr id="3" name="object 3"/>
          <p:cNvPicPr/>
          <p:nvPr/>
        </p:nvPicPr>
        <p:blipFill>
          <a:blip r:embed="rId2" cstate="print"/>
          <a:stretch>
            <a:fillRect/>
          </a:stretch>
        </p:blipFill>
        <p:spPr>
          <a:xfrm>
            <a:off x="159800" y="174174"/>
            <a:ext cx="1826526" cy="327424"/>
          </a:xfrm>
          <a:prstGeom prst="rect">
            <a:avLst/>
          </a:prstGeom>
        </p:spPr>
      </p:pic>
      <p:sp>
        <p:nvSpPr>
          <p:cNvPr id="20" name="Title 19">
            <a:extLst>
              <a:ext uri="{FF2B5EF4-FFF2-40B4-BE49-F238E27FC236}">
                <a16:creationId xmlns:a16="http://schemas.microsoft.com/office/drawing/2014/main" id="{331EBFEC-C707-C8FA-0725-291F1B21E6EA}"/>
              </a:ext>
            </a:extLst>
          </p:cNvPr>
          <p:cNvSpPr>
            <a:spLocks noGrp="1"/>
          </p:cNvSpPr>
          <p:nvPr>
            <p:ph type="ctrTitle"/>
          </p:nvPr>
        </p:nvSpPr>
        <p:spPr>
          <a:xfrm>
            <a:off x="228600" y="991949"/>
            <a:ext cx="5526300" cy="3977377"/>
          </a:xfrm>
        </p:spPr>
        <p:txBody>
          <a:bodyPr/>
          <a:lstStyle/>
          <a:p>
            <a:r>
              <a:rPr lang="en-IN" sz="1400" b="0" dirty="0"/>
              <a:t>🌱 Real-Time Soil Moisture Monitoring Continuously measures soil water content using field sensors.</a:t>
            </a:r>
            <a:br>
              <a:rPr lang="en-IN" sz="1400" b="0" dirty="0"/>
            </a:br>
            <a:r>
              <a:rPr lang="en-IN" sz="1400" b="0" dirty="0"/>
              <a:t>🌦 Weather &amp; Rainfall Detection Tracks temperature, humidity, and rainfall conditions affecting crops.</a:t>
            </a:r>
            <a:br>
              <a:rPr lang="en-IN" sz="1400" b="0" dirty="0"/>
            </a:br>
            <a:r>
              <a:rPr lang="en-IN" sz="1400" b="0" dirty="0"/>
              <a:t>🤖 AI-Based Water Scarcity Prediction Predicts upcoming water shortage based on sensor data patterns.</a:t>
            </a:r>
            <a:br>
              <a:rPr lang="en-IN" sz="1400" b="0" dirty="0"/>
            </a:br>
            <a:r>
              <a:rPr lang="en-IN" sz="1400" b="0" dirty="0"/>
              <a:t>🌾 Crop Failure Risk Prediction Identifies early signs of crop stress and potential failure.</a:t>
            </a:r>
            <a:br>
              <a:rPr lang="en-IN" sz="1400" b="0" dirty="0"/>
            </a:br>
            <a:r>
              <a:rPr lang="en-IN" sz="1400" b="0" dirty="0"/>
              <a:t>🚨 Early Warning Alerts Provides alerts using LED indicators and buzzer signals.</a:t>
            </a:r>
            <a:br>
              <a:rPr lang="en-IN" sz="1400" b="0" dirty="0"/>
            </a:br>
            <a:r>
              <a:rPr lang="en-IN" sz="1400" b="0" dirty="0"/>
              <a:t>🔁 Automatic Irrigation Control Automatically switches irrigation ON/OFF to prevent under or over-watering.</a:t>
            </a:r>
            <a:br>
              <a:rPr lang="en-IN" sz="1400" b="0" dirty="0"/>
            </a:br>
            <a:r>
              <a:rPr lang="en-IN" sz="1400" b="0" dirty="0"/>
              <a:t>👨‍🌾 Farmer-Friendly Hardware Interface Works without smartphones, apps, or literacy.</a:t>
            </a:r>
            <a:br>
              <a:rPr lang="en-IN" sz="1400" b="0" dirty="0"/>
            </a:br>
            <a:r>
              <a:rPr lang="en-IN" sz="1400" b="0" dirty="0"/>
              <a:t>⚡ Low-Cost &amp; Energy Efficient Design Suitable for rural deployment, optional solar power support.</a:t>
            </a:r>
            <a:br>
              <a:rPr lang="en-IN" sz="1400" b="0" dirty="0"/>
            </a:br>
            <a:r>
              <a:rPr lang="en-IN" sz="1400" b="0" dirty="0"/>
              <a:t>🌍 Supports Sustainable Agriculture Saves water, improves yield, and reduces resource wastage.</a:t>
            </a:r>
          </a:p>
        </p:txBody>
      </p:sp>
      <p:sp>
        <p:nvSpPr>
          <p:cNvPr id="21" name="Subtitle 20">
            <a:extLst>
              <a:ext uri="{FF2B5EF4-FFF2-40B4-BE49-F238E27FC236}">
                <a16:creationId xmlns:a16="http://schemas.microsoft.com/office/drawing/2014/main" id="{AFC6982B-0DD6-C12A-E2EE-9874402535F6}"/>
              </a:ext>
            </a:extLst>
          </p:cNvPr>
          <p:cNvSpPr>
            <a:spLocks noGrp="1"/>
          </p:cNvSpPr>
          <p:nvPr>
            <p:ph type="subTitle" idx="4"/>
          </p:nvPr>
        </p:nvSpPr>
        <p:spPr>
          <a:xfrm>
            <a:off x="5754900" y="57150"/>
            <a:ext cx="3352800" cy="5029200"/>
          </a:xfrm>
        </p:spPr>
        <p:txBody>
          <a:bodyPr/>
          <a:lstStyle/>
          <a:p>
            <a:endParaRPr lang="en-IN" dirty="0"/>
          </a:p>
        </p:txBody>
      </p:sp>
      <p:pic>
        <p:nvPicPr>
          <p:cNvPr id="25" name="Picture 24">
            <a:extLst>
              <a:ext uri="{FF2B5EF4-FFF2-40B4-BE49-F238E27FC236}">
                <a16:creationId xmlns:a16="http://schemas.microsoft.com/office/drawing/2014/main" id="{062218F6-5947-DDC9-6121-0BFEC75614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4900" y="0"/>
            <a:ext cx="3352800" cy="51625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1850" y="971550"/>
            <a:ext cx="5102150" cy="4042132"/>
          </a:xfrm>
          <a:prstGeom prst="rect">
            <a:avLst/>
          </a:prstGeom>
        </p:spPr>
        <p:txBody>
          <a:bodyPr vert="horz" wrap="square" lIns="0" tIns="12700" rIns="0" bIns="0" rtlCol="0">
            <a:spAutoFit/>
          </a:bodyPr>
          <a:lstStyle/>
          <a:p>
            <a:r>
              <a:rPr lang="en-US" sz="2000" b="1" dirty="0">
                <a:effectLst/>
              </a:rPr>
              <a:t>Google Technologies used in the solution</a:t>
            </a:r>
          </a:p>
          <a:p>
            <a:endParaRPr lang="en-US" b="1" spc="95" dirty="0">
              <a:solidFill>
                <a:srgbClr val="434343"/>
              </a:solidFill>
              <a:latin typeface="Calibri"/>
              <a:cs typeface="Calibri"/>
            </a:endParaRPr>
          </a:p>
          <a:p>
            <a:r>
              <a:rPr lang="en-US" sz="1600" b="1" dirty="0">
                <a:effectLst/>
              </a:rPr>
              <a:t>Crop Surveillance Using Drone</a:t>
            </a:r>
            <a:r>
              <a:rPr lang="en-US" sz="1600" dirty="0">
                <a:effectLst/>
              </a:rPr>
              <a:t>: Crop surveillance using drones is the use of drones to monit0r crop health, growth, and problems by capturing images and data from the air</a:t>
            </a:r>
            <a:endParaRPr lang="en-US" sz="1600" dirty="0"/>
          </a:p>
          <a:p>
            <a:r>
              <a:rPr lang="en-US" sz="1600" b="1" dirty="0">
                <a:effectLst/>
              </a:rPr>
              <a:t>Temperature Sensor</a:t>
            </a:r>
            <a:r>
              <a:rPr lang="en-US" sz="1600" dirty="0">
                <a:effectLst/>
              </a:rPr>
              <a:t>: A device that measures how hot or cold the environment is.</a:t>
            </a:r>
            <a:endParaRPr lang="en-US" sz="1600" dirty="0"/>
          </a:p>
          <a:p>
            <a:r>
              <a:rPr lang="en-US" sz="1600" b="1" dirty="0">
                <a:effectLst/>
              </a:rPr>
              <a:t>Soil moisture sensor</a:t>
            </a:r>
            <a:r>
              <a:rPr lang="en-US" sz="1600" dirty="0">
                <a:effectLst/>
              </a:rPr>
              <a:t>: A device that measures how much water is present in the soil.</a:t>
            </a:r>
            <a:endParaRPr lang="en-US" sz="1600" dirty="0"/>
          </a:p>
          <a:p>
            <a:r>
              <a:rPr lang="en-US" sz="1600" b="1" dirty="0">
                <a:effectLst/>
              </a:rPr>
              <a:t>Smart Irrigation</a:t>
            </a:r>
            <a:r>
              <a:rPr lang="en-US" sz="1600" dirty="0">
                <a:effectLst/>
              </a:rPr>
              <a:t>: Smart irrigation is the use of technology to water plants only when and how much they need, reducing water waste and improving efficiency.</a:t>
            </a:r>
            <a:endParaRPr lang="en-US" sz="1600" dirty="0"/>
          </a:p>
          <a:p>
            <a:br>
              <a:rPr lang="en-US" sz="1100" dirty="0"/>
            </a:br>
            <a:endParaRPr lang="en-US" sz="1100" dirty="0"/>
          </a:p>
          <a:p>
            <a:pPr marL="12700">
              <a:lnSpc>
                <a:spcPct val="100000"/>
              </a:lnSpc>
              <a:spcBef>
                <a:spcPts val="100"/>
              </a:spcBef>
            </a:pPr>
            <a:endParaRPr lang="en-US" sz="1100" b="1" u="sng" spc="95" dirty="0">
              <a:solidFill>
                <a:srgbClr val="434343"/>
              </a:solidFill>
              <a:latin typeface="Calibri"/>
              <a:cs typeface="Calibri"/>
            </a:endParaRPr>
          </a:p>
        </p:txBody>
      </p:sp>
      <p:pic>
        <p:nvPicPr>
          <p:cNvPr id="3" name="object 3"/>
          <p:cNvPicPr/>
          <p:nvPr/>
        </p:nvPicPr>
        <p:blipFill>
          <a:blip r:embed="rId2" cstate="print"/>
          <a:stretch>
            <a:fillRect/>
          </a:stretch>
        </p:blipFill>
        <p:spPr>
          <a:xfrm>
            <a:off x="159800" y="174174"/>
            <a:ext cx="1826526" cy="327424"/>
          </a:xfrm>
          <a:prstGeom prst="rect">
            <a:avLst/>
          </a:prstGeom>
        </p:spPr>
      </p:pic>
      <p:pic>
        <p:nvPicPr>
          <p:cNvPr id="7" name="Picture 6" descr="A diagram of a crop surveillance using drone&#10;&#10;AI-generated content may be incorrect.">
            <a:extLst>
              <a:ext uri="{FF2B5EF4-FFF2-40B4-BE49-F238E27FC236}">
                <a16:creationId xmlns:a16="http://schemas.microsoft.com/office/drawing/2014/main" id="{A85FF4FD-BC5C-CF83-63B4-1EF2525BD18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57800" y="361950"/>
            <a:ext cx="3581400" cy="443000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28600" y="590551"/>
            <a:ext cx="7086600" cy="320601"/>
          </a:xfrm>
          <a:prstGeom prst="rect">
            <a:avLst/>
          </a:prstGeom>
        </p:spPr>
        <p:txBody>
          <a:bodyPr vert="horz" wrap="square" lIns="0" tIns="12700" rIns="0" bIns="0" rtlCol="0">
            <a:spAutoFit/>
          </a:bodyPr>
          <a:lstStyle/>
          <a:p>
            <a:pPr marL="12700">
              <a:lnSpc>
                <a:spcPct val="100000"/>
              </a:lnSpc>
              <a:spcBef>
                <a:spcPts val="100"/>
              </a:spcBef>
            </a:pPr>
            <a:r>
              <a:rPr lang="en-US" sz="1800" b="1" spc="160" dirty="0">
                <a:solidFill>
                  <a:srgbClr val="434343"/>
                </a:solidFill>
                <a:latin typeface="Calibri"/>
                <a:cs typeface="Calibri"/>
              </a:rPr>
              <a:t>                          </a:t>
            </a:r>
            <a:r>
              <a:rPr sz="2000" b="1" spc="160" dirty="0">
                <a:solidFill>
                  <a:srgbClr val="434343"/>
                </a:solidFill>
                <a:latin typeface="Calibri"/>
                <a:cs typeface="Calibri"/>
              </a:rPr>
              <a:t>Process</a:t>
            </a:r>
            <a:r>
              <a:rPr sz="2000" b="1" spc="15" dirty="0">
                <a:solidFill>
                  <a:srgbClr val="434343"/>
                </a:solidFill>
                <a:latin typeface="Calibri"/>
                <a:cs typeface="Calibri"/>
              </a:rPr>
              <a:t> </a:t>
            </a:r>
            <a:r>
              <a:rPr sz="2000" b="1" spc="100" dirty="0">
                <a:solidFill>
                  <a:srgbClr val="434343"/>
                </a:solidFill>
                <a:latin typeface="Calibri"/>
                <a:cs typeface="Calibri"/>
              </a:rPr>
              <a:t>flow</a:t>
            </a:r>
            <a:r>
              <a:rPr sz="2000" b="1" spc="20" dirty="0">
                <a:solidFill>
                  <a:srgbClr val="434343"/>
                </a:solidFill>
                <a:latin typeface="Calibri"/>
                <a:cs typeface="Calibri"/>
              </a:rPr>
              <a:t> </a:t>
            </a:r>
            <a:r>
              <a:rPr sz="2000" b="1" spc="130" dirty="0">
                <a:solidFill>
                  <a:srgbClr val="434343"/>
                </a:solidFill>
                <a:latin typeface="Calibri"/>
                <a:cs typeface="Calibri"/>
              </a:rPr>
              <a:t>diagram</a:t>
            </a:r>
            <a:r>
              <a:rPr sz="2000" b="1" spc="20" dirty="0">
                <a:solidFill>
                  <a:srgbClr val="434343"/>
                </a:solidFill>
                <a:latin typeface="Calibri"/>
                <a:cs typeface="Calibri"/>
              </a:rPr>
              <a:t> </a:t>
            </a:r>
            <a:r>
              <a:rPr sz="2000" b="1" spc="125" dirty="0">
                <a:solidFill>
                  <a:srgbClr val="434343"/>
                </a:solidFill>
                <a:latin typeface="Calibri"/>
                <a:cs typeface="Calibri"/>
              </a:rPr>
              <a:t>or</a:t>
            </a:r>
            <a:r>
              <a:rPr sz="2000" b="1" spc="20" dirty="0">
                <a:solidFill>
                  <a:srgbClr val="434343"/>
                </a:solidFill>
                <a:latin typeface="Calibri"/>
                <a:cs typeface="Calibri"/>
              </a:rPr>
              <a:t> </a:t>
            </a:r>
            <a:r>
              <a:rPr sz="2000" b="1" spc="175" dirty="0">
                <a:solidFill>
                  <a:srgbClr val="434343"/>
                </a:solidFill>
                <a:latin typeface="Calibri"/>
                <a:cs typeface="Calibri"/>
              </a:rPr>
              <a:t>Use-</a:t>
            </a:r>
            <a:r>
              <a:rPr sz="2000" b="1" spc="170" dirty="0">
                <a:solidFill>
                  <a:srgbClr val="434343"/>
                </a:solidFill>
                <a:latin typeface="Calibri"/>
                <a:cs typeface="Calibri"/>
              </a:rPr>
              <a:t>case</a:t>
            </a:r>
            <a:r>
              <a:rPr sz="2000" b="1" spc="20" dirty="0">
                <a:solidFill>
                  <a:srgbClr val="434343"/>
                </a:solidFill>
                <a:latin typeface="Calibri"/>
                <a:cs typeface="Calibri"/>
              </a:rPr>
              <a:t> </a:t>
            </a:r>
            <a:r>
              <a:rPr sz="2000" b="1" spc="120" dirty="0">
                <a:solidFill>
                  <a:srgbClr val="434343"/>
                </a:solidFill>
                <a:latin typeface="Calibri"/>
                <a:cs typeface="Calibri"/>
              </a:rPr>
              <a:t>diagram</a:t>
            </a:r>
            <a:r>
              <a:rPr lang="en-US" sz="1800" b="1" spc="120" dirty="0">
                <a:solidFill>
                  <a:srgbClr val="434343"/>
                </a:solidFill>
                <a:latin typeface="Calibri"/>
                <a:cs typeface="Calibri"/>
              </a:rPr>
              <a:t>:</a:t>
            </a:r>
            <a:endParaRPr sz="1800" dirty="0">
              <a:latin typeface="Calibri"/>
              <a:cs typeface="Calibri"/>
            </a:endParaRPr>
          </a:p>
        </p:txBody>
      </p:sp>
      <p:pic>
        <p:nvPicPr>
          <p:cNvPr id="3" name="object 3"/>
          <p:cNvPicPr/>
          <p:nvPr/>
        </p:nvPicPr>
        <p:blipFill>
          <a:blip r:embed="rId2" cstate="print"/>
          <a:stretch>
            <a:fillRect/>
          </a:stretch>
        </p:blipFill>
        <p:spPr>
          <a:xfrm>
            <a:off x="159800" y="174174"/>
            <a:ext cx="1826526" cy="327424"/>
          </a:xfrm>
          <a:prstGeom prst="rect">
            <a:avLst/>
          </a:prstGeom>
        </p:spPr>
      </p:pic>
      <p:pic>
        <p:nvPicPr>
          <p:cNvPr id="13" name="Picture 12" descr="A diagram of a smart system&#10;&#10;AI-generated content may be incorrect.">
            <a:extLst>
              <a:ext uri="{FF2B5EF4-FFF2-40B4-BE49-F238E27FC236}">
                <a16:creationId xmlns:a16="http://schemas.microsoft.com/office/drawing/2014/main" id="{6F6EEC3E-F418-97F1-40D1-27CA12FC67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7894" y="1027080"/>
            <a:ext cx="5403706" cy="3678269"/>
          </a:xfrm>
          <a:prstGeom prst="rect">
            <a:avLst/>
          </a:prstGeom>
        </p:spPr>
      </p:pic>
      <p:pic>
        <p:nvPicPr>
          <p:cNvPr id="19" name="Picture 18" descr="A diagram of a process&#10;&#10;AI-generated content may be incorrect.">
            <a:extLst>
              <a:ext uri="{FF2B5EF4-FFF2-40B4-BE49-F238E27FC236}">
                <a16:creationId xmlns:a16="http://schemas.microsoft.com/office/drawing/2014/main" id="{043B9144-51B8-22F2-3F07-022625856C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92" y="1194376"/>
            <a:ext cx="3643343" cy="351097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59801" y="590550"/>
            <a:ext cx="3193000" cy="579646"/>
          </a:xfrm>
          <a:prstGeom prst="rect">
            <a:avLst/>
          </a:prstGeom>
        </p:spPr>
        <p:txBody>
          <a:bodyPr vert="horz" wrap="square" lIns="0" tIns="12700" rIns="0" bIns="0" rtlCol="0">
            <a:spAutoFit/>
          </a:bodyPr>
          <a:lstStyle/>
          <a:p>
            <a:pPr marL="12700">
              <a:lnSpc>
                <a:spcPct val="100000"/>
              </a:lnSpc>
              <a:spcBef>
                <a:spcPts val="100"/>
              </a:spcBef>
            </a:pPr>
            <a:r>
              <a:rPr sz="1800" b="1" spc="130" dirty="0">
                <a:solidFill>
                  <a:srgbClr val="434343"/>
                </a:solidFill>
                <a:latin typeface="Calibri"/>
                <a:cs typeface="Calibri"/>
              </a:rPr>
              <a:t>Architecture</a:t>
            </a:r>
            <a:r>
              <a:rPr sz="1800" b="1" spc="30" dirty="0">
                <a:solidFill>
                  <a:srgbClr val="434343"/>
                </a:solidFill>
                <a:latin typeface="Calibri"/>
                <a:cs typeface="Calibri"/>
              </a:rPr>
              <a:t> </a:t>
            </a:r>
            <a:r>
              <a:rPr sz="1800" b="1" spc="130" dirty="0">
                <a:solidFill>
                  <a:srgbClr val="434343"/>
                </a:solidFill>
                <a:latin typeface="Calibri"/>
                <a:cs typeface="Calibri"/>
              </a:rPr>
              <a:t>diagram</a:t>
            </a:r>
            <a:r>
              <a:rPr sz="1800" b="1" spc="30" dirty="0">
                <a:solidFill>
                  <a:srgbClr val="434343"/>
                </a:solidFill>
                <a:latin typeface="Calibri"/>
                <a:cs typeface="Calibri"/>
              </a:rPr>
              <a:t> </a:t>
            </a:r>
            <a:r>
              <a:rPr sz="1800" b="1" spc="110" dirty="0">
                <a:solidFill>
                  <a:srgbClr val="434343"/>
                </a:solidFill>
                <a:latin typeface="Calibri"/>
                <a:cs typeface="Calibri"/>
              </a:rPr>
              <a:t>of</a:t>
            </a:r>
            <a:r>
              <a:rPr sz="1800" b="1" spc="30" dirty="0">
                <a:solidFill>
                  <a:srgbClr val="434343"/>
                </a:solidFill>
                <a:latin typeface="Calibri"/>
                <a:cs typeface="Calibri"/>
              </a:rPr>
              <a:t> </a:t>
            </a:r>
            <a:r>
              <a:rPr sz="1800" b="1" spc="120" dirty="0">
                <a:solidFill>
                  <a:srgbClr val="434343"/>
                </a:solidFill>
                <a:latin typeface="Calibri"/>
                <a:cs typeface="Calibri"/>
              </a:rPr>
              <a:t>the</a:t>
            </a:r>
            <a:endParaRPr lang="en-US" sz="1800" b="1" spc="120" dirty="0">
              <a:solidFill>
                <a:srgbClr val="434343"/>
              </a:solidFill>
              <a:latin typeface="Calibri"/>
              <a:cs typeface="Calibri"/>
            </a:endParaRPr>
          </a:p>
          <a:p>
            <a:pPr marL="12700">
              <a:lnSpc>
                <a:spcPct val="100000"/>
              </a:lnSpc>
              <a:spcBef>
                <a:spcPts val="100"/>
              </a:spcBef>
            </a:pPr>
            <a:r>
              <a:rPr sz="1800" b="1" spc="35" dirty="0">
                <a:solidFill>
                  <a:srgbClr val="434343"/>
                </a:solidFill>
                <a:latin typeface="Calibri"/>
                <a:cs typeface="Calibri"/>
              </a:rPr>
              <a:t> </a:t>
            </a:r>
            <a:r>
              <a:rPr sz="1800" b="1" spc="145" dirty="0">
                <a:solidFill>
                  <a:srgbClr val="434343"/>
                </a:solidFill>
                <a:latin typeface="Calibri"/>
                <a:cs typeface="Calibri"/>
              </a:rPr>
              <a:t>proposed</a:t>
            </a:r>
            <a:r>
              <a:rPr sz="1800" b="1" spc="30" dirty="0">
                <a:solidFill>
                  <a:srgbClr val="434343"/>
                </a:solidFill>
                <a:latin typeface="Calibri"/>
                <a:cs typeface="Calibri"/>
              </a:rPr>
              <a:t> </a:t>
            </a:r>
            <a:r>
              <a:rPr sz="1800" b="1" spc="95" dirty="0">
                <a:solidFill>
                  <a:srgbClr val="434343"/>
                </a:solidFill>
                <a:latin typeface="Calibri"/>
                <a:cs typeface="Calibri"/>
              </a:rPr>
              <a:t>solution</a:t>
            </a:r>
            <a:endParaRPr sz="1800" dirty="0">
              <a:latin typeface="Calibri"/>
              <a:cs typeface="Calibri"/>
            </a:endParaRPr>
          </a:p>
        </p:txBody>
      </p:sp>
      <p:pic>
        <p:nvPicPr>
          <p:cNvPr id="3" name="object 3"/>
          <p:cNvPicPr/>
          <p:nvPr/>
        </p:nvPicPr>
        <p:blipFill>
          <a:blip r:embed="rId2" cstate="print"/>
          <a:stretch>
            <a:fillRect/>
          </a:stretch>
        </p:blipFill>
        <p:spPr>
          <a:xfrm>
            <a:off x="159800" y="174174"/>
            <a:ext cx="1826526" cy="327424"/>
          </a:xfrm>
          <a:prstGeom prst="rect">
            <a:avLst/>
          </a:prstGeom>
        </p:spPr>
      </p:pic>
      <p:pic>
        <p:nvPicPr>
          <p:cNvPr id="5" name="Picture 4" descr="A diagram of a system&#10;&#10;AI-generated content may be incorrect.">
            <a:extLst>
              <a:ext uri="{FF2B5EF4-FFF2-40B4-BE49-F238E27FC236}">
                <a16:creationId xmlns:a16="http://schemas.microsoft.com/office/drawing/2014/main" id="{38BF75E9-729B-C1D2-253B-C76666FC42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3800" y="66675"/>
            <a:ext cx="5372100" cy="5010150"/>
          </a:xfrm>
          <a:prstGeom prst="rect">
            <a:avLst/>
          </a:prstGeom>
        </p:spPr>
      </p:pic>
      <p:sp>
        <p:nvSpPr>
          <p:cNvPr id="7" name="TextBox 6">
            <a:extLst>
              <a:ext uri="{FF2B5EF4-FFF2-40B4-BE49-F238E27FC236}">
                <a16:creationId xmlns:a16="http://schemas.microsoft.com/office/drawing/2014/main" id="{F150941C-9767-84E2-32C7-BFFE4993D1B5}"/>
              </a:ext>
            </a:extLst>
          </p:cNvPr>
          <p:cNvSpPr txBox="1"/>
          <p:nvPr/>
        </p:nvSpPr>
        <p:spPr>
          <a:xfrm>
            <a:off x="159800" y="1352550"/>
            <a:ext cx="3193000" cy="3108543"/>
          </a:xfrm>
          <a:prstGeom prst="rect">
            <a:avLst/>
          </a:prstGeom>
          <a:noFill/>
        </p:spPr>
        <p:txBody>
          <a:bodyPr wrap="square">
            <a:spAutoFit/>
          </a:bodyPr>
          <a:lstStyle/>
          <a:p>
            <a:r>
              <a:rPr lang="en-IN" sz="1400" dirty="0"/>
              <a:t>This system uses IoT sensors in the field to monitor soil moisture, nutrients, and crop health in real-time. This data is transmitted via a Gateway (ESP32) to a Cloud Platform, where an AI Engine analyses it to predict irrigation needs and detect plant diseases. Based on these insights, the system automatically triggers pumps or drones to take action. Finally, farmers receive live updates and alerts through a mobile app, allowing them to manage their crops efficiently from anywhere.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C063A4D-9B6F-D956-E5B9-EC2E1019E26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7DAF025-CB24-58DB-98B1-98D87DFEE8CD}"/>
              </a:ext>
            </a:extLst>
          </p:cNvPr>
          <p:cNvSpPr txBox="1"/>
          <p:nvPr/>
        </p:nvSpPr>
        <p:spPr>
          <a:xfrm>
            <a:off x="304800" y="742950"/>
            <a:ext cx="8305800" cy="7127592"/>
          </a:xfrm>
          <a:prstGeom prst="rect">
            <a:avLst/>
          </a:prstGeom>
        </p:spPr>
        <p:txBody>
          <a:bodyPr vert="horz" wrap="square" lIns="0" tIns="12700" rIns="0" bIns="0" rtlCol="0">
            <a:spAutoFit/>
          </a:bodyPr>
          <a:lstStyle/>
          <a:p>
            <a:r>
              <a:rPr lang="en-IN" b="1" dirty="0">
                <a:effectLst/>
              </a:rPr>
              <a:t>                          </a:t>
            </a:r>
            <a:r>
              <a:rPr lang="en-IN" sz="2000" b="1" dirty="0">
                <a:effectLst/>
              </a:rPr>
              <a:t>Implementations For Further Development</a:t>
            </a:r>
            <a:endParaRPr lang="en-IN" sz="2000" b="1" dirty="0"/>
          </a:p>
          <a:p>
            <a:br>
              <a:rPr lang="en-IN" dirty="0"/>
            </a:br>
            <a:r>
              <a:rPr lang="en-US" sz="1600" b="1" dirty="0">
                <a:effectLst/>
              </a:rPr>
              <a:t>Solar-Powered Autonomy</a:t>
            </a:r>
            <a:r>
              <a:rPr lang="en-US" sz="1600" dirty="0">
                <a:effectLst/>
              </a:rPr>
              <a:t>: Equipping all field sensors and pumps with solar panels to make the farm fully self-sufficient and green.</a:t>
            </a:r>
            <a:endParaRPr lang="en-US" sz="1600" dirty="0"/>
          </a:p>
          <a:p>
            <a:r>
              <a:rPr lang="en-US" sz="1600" b="1" dirty="0">
                <a:effectLst/>
              </a:rPr>
              <a:t>Satellite Sight</a:t>
            </a:r>
            <a:r>
              <a:rPr lang="en-US" sz="1600" dirty="0">
                <a:effectLst/>
              </a:rPr>
              <a:t>: Merging ground sensor data with satellite imagery to monitor crop health across massive areas that drones can't reach.</a:t>
            </a:r>
            <a:endParaRPr lang="en-US" sz="1600" dirty="0"/>
          </a:p>
          <a:p>
            <a:r>
              <a:rPr lang="en-US" sz="1600" b="1" dirty="0">
                <a:effectLst/>
              </a:rPr>
              <a:t>Leak Detection</a:t>
            </a:r>
            <a:r>
              <a:rPr lang="en-US" sz="1600" dirty="0">
                <a:effectLst/>
              </a:rPr>
              <a:t>: Using AI to sense tiny drops in water pressure, instantly stopping leaks before a single gallon is wasted.</a:t>
            </a:r>
            <a:endParaRPr lang="en-US" sz="1600" dirty="0"/>
          </a:p>
          <a:p>
            <a:r>
              <a:rPr lang="en-US" sz="1600" b="1" dirty="0">
                <a:effectLst/>
              </a:rPr>
              <a:t>Edge Intelligence</a:t>
            </a:r>
            <a:r>
              <a:rPr lang="en-US" sz="1600" dirty="0">
                <a:effectLst/>
              </a:rPr>
              <a:t>: Teaching the field cameras to "think" locally so they can detect pests instantly, even without an internet connection.</a:t>
            </a:r>
            <a:endParaRPr lang="en-US" sz="1600" dirty="0"/>
          </a:p>
          <a:p>
            <a:r>
              <a:rPr lang="en-US" sz="1600" b="1" dirty="0">
                <a:effectLst/>
              </a:rPr>
              <a:t>Smart Weather Fusion</a:t>
            </a:r>
            <a:r>
              <a:rPr lang="en-US" sz="1600" dirty="0">
                <a:effectLst/>
              </a:rPr>
              <a:t>: Connecting the system to global climate forecasts to skip irrigation if rain is predicted in the next hour.</a:t>
            </a:r>
            <a:endParaRPr lang="en-US" sz="1600" dirty="0"/>
          </a:p>
          <a:p>
            <a:r>
              <a:rPr lang="en-US" sz="1600" b="1" dirty="0">
                <a:effectLst/>
              </a:rPr>
              <a:t>Community Sharing</a:t>
            </a:r>
            <a:r>
              <a:rPr lang="en-US" sz="1600" dirty="0">
                <a:effectLst/>
              </a:rPr>
              <a:t>: Creating a "Neighborhood Grid" where farmers can trade surplus water or alert each other about spreading diseases.</a:t>
            </a:r>
            <a:endParaRPr lang="en-US" sz="1600" dirty="0"/>
          </a:p>
          <a:p>
            <a:br>
              <a:rPr lang="en-US" sz="1600" dirty="0"/>
            </a:br>
            <a:endParaRPr lang="en-US" sz="1600" dirty="0"/>
          </a:p>
          <a:p>
            <a:endParaRPr lang="en-US" sz="1400" spc="135" dirty="0">
              <a:solidFill>
                <a:srgbClr val="434343"/>
              </a:solidFill>
              <a:latin typeface="Calibri" panose="020F0502020204030204" pitchFamily="34" charset="0"/>
              <a:ea typeface="Calibri" panose="020F0502020204030204" pitchFamily="34" charset="0"/>
              <a:cs typeface="Calibri" panose="020F0502020204030204" pitchFamily="34" charset="0"/>
            </a:endParaRPr>
          </a:p>
          <a:p>
            <a:pPr marL="12700">
              <a:lnSpc>
                <a:spcPct val="100000"/>
              </a:lnSpc>
              <a:spcBef>
                <a:spcPts val="100"/>
              </a:spcBef>
            </a:pPr>
            <a:endParaRPr lang="en-US" sz="1800" b="1" spc="135" dirty="0">
              <a:solidFill>
                <a:srgbClr val="434343"/>
              </a:solidFill>
              <a:latin typeface="Calibri" panose="020F0502020204030204" pitchFamily="34" charset="0"/>
              <a:ea typeface="Calibri" panose="020F0502020204030204" pitchFamily="34" charset="0"/>
              <a:cs typeface="Calibri" panose="020F0502020204030204" pitchFamily="34" charset="0"/>
            </a:endParaRPr>
          </a:p>
          <a:p>
            <a:pPr marL="12700">
              <a:lnSpc>
                <a:spcPct val="100000"/>
              </a:lnSpc>
              <a:spcBef>
                <a:spcPts val="100"/>
              </a:spcBef>
            </a:pPr>
            <a:endParaRPr lang="en-US" b="1" spc="135" dirty="0">
              <a:solidFill>
                <a:srgbClr val="434343"/>
              </a:solidFill>
              <a:latin typeface="Calibri"/>
              <a:cs typeface="Calibri"/>
            </a:endParaRPr>
          </a:p>
          <a:p>
            <a:pPr marL="12700">
              <a:lnSpc>
                <a:spcPct val="100000"/>
              </a:lnSpc>
              <a:spcBef>
                <a:spcPts val="100"/>
              </a:spcBef>
            </a:pPr>
            <a:endParaRPr lang="en-US" sz="1800" b="1" spc="135" dirty="0">
              <a:solidFill>
                <a:srgbClr val="434343"/>
              </a:solidFill>
              <a:latin typeface="Calibri"/>
              <a:cs typeface="Calibri"/>
            </a:endParaRPr>
          </a:p>
          <a:p>
            <a:pPr marL="12700">
              <a:lnSpc>
                <a:spcPct val="100000"/>
              </a:lnSpc>
              <a:spcBef>
                <a:spcPts val="100"/>
              </a:spcBef>
            </a:pPr>
            <a:endParaRPr lang="en-US" b="1" spc="135" dirty="0">
              <a:solidFill>
                <a:srgbClr val="434343"/>
              </a:solidFill>
              <a:latin typeface="Calibri"/>
              <a:cs typeface="Calibri"/>
            </a:endParaRPr>
          </a:p>
          <a:p>
            <a:pPr marL="12700">
              <a:lnSpc>
                <a:spcPct val="100000"/>
              </a:lnSpc>
              <a:spcBef>
                <a:spcPts val="100"/>
              </a:spcBef>
            </a:pPr>
            <a:endParaRPr lang="en-US" sz="1800" b="1" spc="135" dirty="0">
              <a:solidFill>
                <a:srgbClr val="434343"/>
              </a:solidFill>
              <a:latin typeface="Calibri"/>
              <a:cs typeface="Calibri"/>
            </a:endParaRPr>
          </a:p>
          <a:p>
            <a:pPr marL="12700">
              <a:lnSpc>
                <a:spcPct val="100000"/>
              </a:lnSpc>
              <a:spcBef>
                <a:spcPts val="100"/>
              </a:spcBef>
            </a:pPr>
            <a:endParaRPr lang="en-US" b="1" spc="135" dirty="0">
              <a:solidFill>
                <a:srgbClr val="434343"/>
              </a:solidFill>
              <a:latin typeface="Calibri"/>
              <a:cs typeface="Calibri"/>
            </a:endParaRPr>
          </a:p>
          <a:p>
            <a:pPr marL="12700">
              <a:lnSpc>
                <a:spcPct val="100000"/>
              </a:lnSpc>
              <a:spcBef>
                <a:spcPts val="100"/>
              </a:spcBef>
            </a:pPr>
            <a:endParaRPr lang="en-US" sz="1800" b="1" spc="135" dirty="0">
              <a:solidFill>
                <a:srgbClr val="434343"/>
              </a:solidFill>
              <a:latin typeface="Calibri"/>
              <a:cs typeface="Calibri"/>
            </a:endParaRPr>
          </a:p>
          <a:p>
            <a:pPr marL="12700">
              <a:lnSpc>
                <a:spcPct val="100000"/>
              </a:lnSpc>
              <a:spcBef>
                <a:spcPts val="100"/>
              </a:spcBef>
            </a:pPr>
            <a:endParaRPr lang="en-US" b="1" spc="135" dirty="0">
              <a:solidFill>
                <a:srgbClr val="434343"/>
              </a:solidFill>
              <a:latin typeface="Calibri"/>
              <a:cs typeface="Calibri"/>
            </a:endParaRPr>
          </a:p>
          <a:p>
            <a:pPr marL="12700">
              <a:lnSpc>
                <a:spcPct val="100000"/>
              </a:lnSpc>
              <a:spcBef>
                <a:spcPts val="100"/>
              </a:spcBef>
            </a:pPr>
            <a:endParaRPr lang="en-US" sz="1800" b="1" spc="135" dirty="0">
              <a:solidFill>
                <a:srgbClr val="434343"/>
              </a:solidFill>
              <a:latin typeface="Calibri"/>
              <a:cs typeface="Calibri"/>
            </a:endParaRPr>
          </a:p>
          <a:p>
            <a:pPr marL="12700">
              <a:lnSpc>
                <a:spcPct val="100000"/>
              </a:lnSpc>
              <a:spcBef>
                <a:spcPts val="100"/>
              </a:spcBef>
            </a:pPr>
            <a:endParaRPr sz="1800" dirty="0">
              <a:latin typeface="Calibri"/>
              <a:cs typeface="Calibri"/>
            </a:endParaRPr>
          </a:p>
        </p:txBody>
      </p:sp>
      <p:pic>
        <p:nvPicPr>
          <p:cNvPr id="3" name="object 3">
            <a:extLst>
              <a:ext uri="{FF2B5EF4-FFF2-40B4-BE49-F238E27FC236}">
                <a16:creationId xmlns:a16="http://schemas.microsoft.com/office/drawing/2014/main" id="{EF11AB1F-F696-4F47-A29B-8E72792A5401}"/>
              </a:ext>
            </a:extLst>
          </p:cNvPr>
          <p:cNvPicPr/>
          <p:nvPr/>
        </p:nvPicPr>
        <p:blipFill>
          <a:blip r:embed="rId2" cstate="print"/>
          <a:stretch>
            <a:fillRect/>
          </a:stretch>
        </p:blipFill>
        <p:spPr>
          <a:xfrm>
            <a:off x="159800" y="174174"/>
            <a:ext cx="1826526" cy="327424"/>
          </a:xfrm>
          <a:prstGeom prst="rect">
            <a:avLst/>
          </a:prstGeom>
        </p:spPr>
      </p:pic>
    </p:spTree>
    <p:extLst>
      <p:ext uri="{BB962C8B-B14F-4D97-AF65-F5344CB8AC3E}">
        <p14:creationId xmlns:p14="http://schemas.microsoft.com/office/powerpoint/2010/main" val="17669239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3">
            <a:extLst>
              <a:ext uri="{FF2B5EF4-FFF2-40B4-BE49-F238E27FC236}">
                <a16:creationId xmlns:a16="http://schemas.microsoft.com/office/drawing/2014/main" id="{4DD12106-5844-F945-7142-049F5AF99258}"/>
              </a:ext>
            </a:extLst>
          </p:cNvPr>
          <p:cNvPicPr/>
          <p:nvPr/>
        </p:nvPicPr>
        <p:blipFill>
          <a:blip r:embed="rId2" cstate="print"/>
          <a:stretch>
            <a:fillRect/>
          </a:stretch>
        </p:blipFill>
        <p:spPr>
          <a:xfrm>
            <a:off x="159800" y="174174"/>
            <a:ext cx="1826526" cy="327424"/>
          </a:xfrm>
          <a:prstGeom prst="rect">
            <a:avLst/>
          </a:prstGeom>
        </p:spPr>
      </p:pic>
      <p:sp>
        <p:nvSpPr>
          <p:cNvPr id="9" name="Content Placeholder 8">
            <a:extLst>
              <a:ext uri="{FF2B5EF4-FFF2-40B4-BE49-F238E27FC236}">
                <a16:creationId xmlns:a16="http://schemas.microsoft.com/office/drawing/2014/main" id="{4925AE02-2161-D2AE-1A5C-752290449383}"/>
              </a:ext>
            </a:extLst>
          </p:cNvPr>
          <p:cNvSpPr>
            <a:spLocks noGrp="1"/>
          </p:cNvSpPr>
          <p:nvPr>
            <p:ph sz="half" idx="2"/>
          </p:nvPr>
        </p:nvSpPr>
        <p:spPr>
          <a:xfrm>
            <a:off x="304800" y="590550"/>
            <a:ext cx="3903322" cy="4708981"/>
          </a:xfrm>
        </p:spPr>
        <p:txBody>
          <a:bodyPr/>
          <a:lstStyle/>
          <a:p>
            <a:pPr algn="l"/>
            <a:r>
              <a:rPr lang="en-US" sz="1400" dirty="0"/>
              <a:t>🌱 </a:t>
            </a:r>
            <a:r>
              <a:rPr lang="en-US" sz="1400" b="1" dirty="0"/>
              <a:t>1. Smart Soil–Water Prediction:</a:t>
            </a:r>
            <a:br>
              <a:rPr lang="en-US" sz="1400" dirty="0"/>
            </a:br>
            <a:r>
              <a:rPr lang="en-US" sz="1400" dirty="0"/>
              <a:t>AI uses soil moisture, temperature, and pH sensors to predict water stress early and alerts farmers using simple LED signals.</a:t>
            </a:r>
          </a:p>
          <a:p>
            <a:pPr algn="l"/>
            <a:r>
              <a:rPr lang="en-US" sz="1400" b="1" dirty="0"/>
              <a:t>How it predicts:</a:t>
            </a:r>
            <a:br>
              <a:rPr lang="en-US" sz="1400" dirty="0"/>
            </a:br>
            <a:r>
              <a:rPr lang="en-US" sz="1400" dirty="0"/>
              <a:t>Analyzes soil moisture trends over time to forecast upcoming water stress.</a:t>
            </a:r>
            <a:br>
              <a:rPr lang="en-US" sz="1400" dirty="0"/>
            </a:br>
            <a:r>
              <a:rPr lang="en-US" sz="1400" b="1" dirty="0"/>
              <a:t>Output:</a:t>
            </a:r>
            <a:br>
              <a:rPr lang="en-US" sz="1400" dirty="0"/>
            </a:br>
            <a:r>
              <a:rPr lang="en-US" sz="1400" dirty="0"/>
              <a:t>Green LED (Safe), Yellow LED (Stress coming), Red LED + buzzer (Irrigate now).</a:t>
            </a:r>
          </a:p>
          <a:p>
            <a:pPr algn="l"/>
            <a:endParaRPr lang="en-US" sz="1400" dirty="0"/>
          </a:p>
          <a:p>
            <a:pPr algn="l"/>
            <a:r>
              <a:rPr lang="en-US" sz="1400" dirty="0"/>
              <a:t>💧 </a:t>
            </a:r>
            <a:r>
              <a:rPr lang="en-US" sz="1400" b="1" dirty="0"/>
              <a:t>2. Groundwater Scarcity Prediction Node</a:t>
            </a:r>
            <a:br>
              <a:rPr lang="en-US" sz="1400" dirty="0"/>
            </a:br>
            <a:r>
              <a:rPr lang="en-US" sz="1400" dirty="0"/>
              <a:t>Low-cost borewell sensor predicts how many days of groundwater remain using water level trends and rainfall data.</a:t>
            </a:r>
          </a:p>
          <a:p>
            <a:pPr algn="l"/>
            <a:r>
              <a:rPr lang="en-US" sz="1400" b="1" dirty="0"/>
              <a:t>How it predicts:</a:t>
            </a:r>
            <a:br>
              <a:rPr lang="en-US" sz="1400" dirty="0"/>
            </a:br>
            <a:r>
              <a:rPr lang="en-US" sz="1400" dirty="0"/>
              <a:t>Calculates groundwater depletion rate using borewell level, rainfall, and usage data.</a:t>
            </a:r>
            <a:br>
              <a:rPr lang="en-US" sz="1400" dirty="0"/>
            </a:br>
            <a:r>
              <a:rPr lang="en-US" sz="1400" b="1" dirty="0"/>
              <a:t>Output:</a:t>
            </a:r>
            <a:br>
              <a:rPr lang="en-US" sz="1400" dirty="0"/>
            </a:br>
            <a:r>
              <a:rPr lang="en-US" sz="1400" dirty="0"/>
              <a:t>Light indicators showing days of water left + optional local voice alert.</a:t>
            </a:r>
          </a:p>
          <a:p>
            <a:endParaRPr lang="en-US" sz="1200" dirty="0"/>
          </a:p>
        </p:txBody>
      </p:sp>
      <p:sp>
        <p:nvSpPr>
          <p:cNvPr id="11" name="Content Placeholder 10">
            <a:extLst>
              <a:ext uri="{FF2B5EF4-FFF2-40B4-BE49-F238E27FC236}">
                <a16:creationId xmlns:a16="http://schemas.microsoft.com/office/drawing/2014/main" id="{3A7D2EB4-7CE0-A9ED-A397-E75C9D00119B}"/>
              </a:ext>
            </a:extLst>
          </p:cNvPr>
          <p:cNvSpPr>
            <a:spLocks noGrp="1"/>
          </p:cNvSpPr>
          <p:nvPr>
            <p:ph sz="half" idx="3"/>
          </p:nvPr>
        </p:nvSpPr>
        <p:spPr>
          <a:xfrm>
            <a:off x="4418965" y="666750"/>
            <a:ext cx="4717220" cy="4693593"/>
          </a:xfrm>
        </p:spPr>
        <p:txBody>
          <a:bodyPr/>
          <a:lstStyle/>
          <a:p>
            <a:pPr algn="l"/>
            <a:r>
              <a:rPr lang="en-US" sz="1400" dirty="0"/>
              <a:t>🌦</a:t>
            </a:r>
            <a:r>
              <a:rPr lang="en-US" sz="1400" b="1" dirty="0"/>
              <a:t> 3. Micro-Climate Crop Failure Predictor</a:t>
            </a:r>
          </a:p>
          <a:p>
            <a:pPr algn="l"/>
            <a:r>
              <a:rPr lang="en-US" sz="1400" dirty="0"/>
              <a:t>A mini weather station with edge AI detects heat stress and dry spells to predict crop failure at field level</a:t>
            </a:r>
          </a:p>
          <a:p>
            <a:pPr algn="l"/>
            <a:r>
              <a:rPr lang="en-US" sz="1400" b="1" dirty="0"/>
              <a:t>How it predicts:</a:t>
            </a:r>
          </a:p>
          <a:p>
            <a:pPr algn="l"/>
            <a:r>
              <a:rPr lang="en-US" sz="1400" dirty="0"/>
              <a:t>Detects heat stress and rainfall gaps and compares them with crop growth stage using AI.</a:t>
            </a:r>
          </a:p>
          <a:p>
            <a:pPr algn="l"/>
            <a:r>
              <a:rPr lang="en-US" sz="1400" b="1" dirty="0"/>
              <a:t>Output:</a:t>
            </a:r>
          </a:p>
          <a:p>
            <a:pPr algn="l"/>
            <a:r>
              <a:rPr lang="en-US" sz="1400" dirty="0"/>
              <a:t>LED or symbol indicator showing low, medium, or high crop failure risk</a:t>
            </a:r>
            <a:r>
              <a:rPr lang="en-US" sz="1200" dirty="0"/>
              <a:t>.</a:t>
            </a:r>
          </a:p>
          <a:p>
            <a:pPr algn="l"/>
            <a:endParaRPr lang="en-US" sz="1400" dirty="0">
              <a:solidFill>
                <a:schemeClr val="accent2">
                  <a:lumMod val="50000"/>
                </a:schemeClr>
              </a:solidFill>
            </a:endParaRPr>
          </a:p>
          <a:p>
            <a:pPr algn="l"/>
            <a:endParaRPr lang="en-US" sz="1400" dirty="0">
              <a:solidFill>
                <a:schemeClr val="accent2">
                  <a:lumMod val="50000"/>
                </a:schemeClr>
              </a:solidFill>
            </a:endParaRPr>
          </a:p>
          <a:p>
            <a:pPr algn="l"/>
            <a:r>
              <a:rPr lang="en-US" sz="1400" dirty="0">
                <a:solidFill>
                  <a:schemeClr val="accent2">
                    <a:lumMod val="50000"/>
                  </a:schemeClr>
                </a:solidFill>
              </a:rPr>
              <a:t>🌾</a:t>
            </a:r>
            <a:r>
              <a:rPr lang="en-US" sz="1400" dirty="0">
                <a:solidFill>
                  <a:schemeClr val="tx1"/>
                </a:solidFill>
              </a:rPr>
              <a:t> </a:t>
            </a:r>
            <a:r>
              <a:rPr lang="en-US" sz="1400" b="1" dirty="0">
                <a:solidFill>
                  <a:schemeClr val="tx1"/>
                </a:solidFill>
              </a:rPr>
              <a:t>4. Leaf-Based Crop Health Monitor</a:t>
            </a:r>
          </a:p>
          <a:p>
            <a:pPr algn="l"/>
            <a:r>
              <a:rPr lang="en-US" sz="1400" dirty="0">
                <a:solidFill>
                  <a:schemeClr val="tx1"/>
                </a:solidFill>
              </a:rPr>
              <a:t>Optical sensors detect early crop stress invisible to humans and predict water-related crop failure weeks ahead.</a:t>
            </a:r>
          </a:p>
          <a:p>
            <a:pPr algn="l"/>
            <a:r>
              <a:rPr lang="en-US" sz="1400" b="1" dirty="0"/>
              <a:t>How it predicts:</a:t>
            </a:r>
          </a:p>
          <a:p>
            <a:pPr algn="l"/>
            <a:r>
              <a:rPr lang="en-US" sz="1400" dirty="0"/>
              <a:t>Uses optical/NDVI data to identify early plant stress linked to water deficiency.</a:t>
            </a:r>
          </a:p>
          <a:p>
            <a:pPr algn="l"/>
            <a:r>
              <a:rPr lang="en-US" sz="1400" b="1" dirty="0"/>
              <a:t>Output:</a:t>
            </a:r>
          </a:p>
          <a:p>
            <a:pPr algn="l"/>
            <a:r>
              <a:rPr lang="en-US" sz="1400" dirty="0"/>
              <a:t>✔ Healthy crop / ✖ Stress detected indicator.</a:t>
            </a:r>
          </a:p>
          <a:p>
            <a:pPr algn="l"/>
            <a:r>
              <a:rPr lang="en-US" sz="1200" dirty="0"/>
              <a:t>.</a:t>
            </a:r>
          </a:p>
          <a:p>
            <a:pPr algn="l"/>
            <a:endParaRPr lang="en-IN" sz="1200" dirty="0"/>
          </a:p>
          <a:p>
            <a:endParaRPr lang="en-IN" dirty="0"/>
          </a:p>
        </p:txBody>
      </p:sp>
      <p:sp>
        <p:nvSpPr>
          <p:cNvPr id="4" name="Title 3">
            <a:extLst>
              <a:ext uri="{FF2B5EF4-FFF2-40B4-BE49-F238E27FC236}">
                <a16:creationId xmlns:a16="http://schemas.microsoft.com/office/drawing/2014/main" id="{261442A1-CAF1-4F1A-69A9-65B088CD9F9E}"/>
              </a:ext>
            </a:extLst>
          </p:cNvPr>
          <p:cNvSpPr>
            <a:spLocks noGrp="1"/>
          </p:cNvSpPr>
          <p:nvPr>
            <p:ph type="title"/>
          </p:nvPr>
        </p:nvSpPr>
        <p:spPr>
          <a:xfrm>
            <a:off x="3124200" y="23935"/>
            <a:ext cx="3243579" cy="369332"/>
          </a:xfrm>
        </p:spPr>
        <p:txBody>
          <a:bodyPr/>
          <a:lstStyle/>
          <a:p>
            <a:pPr algn="l"/>
            <a:r>
              <a:rPr lang="en-US" sz="2400" dirty="0"/>
              <a:t>Additional Ideas</a:t>
            </a:r>
            <a:endParaRPr lang="en-IN" sz="2400" dirty="0"/>
          </a:p>
        </p:txBody>
      </p:sp>
    </p:spTree>
    <p:extLst>
      <p:ext uri="{BB962C8B-B14F-4D97-AF65-F5344CB8AC3E}">
        <p14:creationId xmlns:p14="http://schemas.microsoft.com/office/powerpoint/2010/main" val="36959758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85800" y="819150"/>
            <a:ext cx="8229600" cy="1962076"/>
          </a:xfrm>
          <a:prstGeom prst="rect">
            <a:avLst/>
          </a:prstGeom>
        </p:spPr>
        <p:txBody>
          <a:bodyPr vert="horz" wrap="square" lIns="0" tIns="12700" rIns="0" bIns="0" rtlCol="0">
            <a:spAutoFit/>
          </a:bodyPr>
          <a:lstStyle/>
          <a:p>
            <a:pPr marL="12700">
              <a:lnSpc>
                <a:spcPct val="100000"/>
              </a:lnSpc>
              <a:spcBef>
                <a:spcPts val="100"/>
              </a:spcBef>
            </a:pPr>
            <a:r>
              <a:rPr sz="1800" b="1" spc="114" dirty="0">
                <a:solidFill>
                  <a:srgbClr val="434343"/>
                </a:solidFill>
                <a:latin typeface="Calibri"/>
                <a:cs typeface="Calibri"/>
              </a:rPr>
              <a:t>Provide</a:t>
            </a:r>
            <a:r>
              <a:rPr sz="1800" b="1" spc="5" dirty="0">
                <a:solidFill>
                  <a:srgbClr val="434343"/>
                </a:solidFill>
                <a:latin typeface="Calibri"/>
                <a:cs typeface="Calibri"/>
              </a:rPr>
              <a:t> </a:t>
            </a:r>
            <a:r>
              <a:rPr sz="1800" b="1" spc="95" dirty="0">
                <a:solidFill>
                  <a:srgbClr val="434343"/>
                </a:solidFill>
                <a:latin typeface="Calibri"/>
                <a:cs typeface="Calibri"/>
              </a:rPr>
              <a:t>links</a:t>
            </a:r>
            <a:r>
              <a:rPr sz="1800" b="1" spc="15" dirty="0">
                <a:solidFill>
                  <a:srgbClr val="434343"/>
                </a:solidFill>
                <a:latin typeface="Calibri"/>
                <a:cs typeface="Calibri"/>
              </a:rPr>
              <a:t> </a:t>
            </a:r>
            <a:r>
              <a:rPr sz="1800" b="1" spc="100" dirty="0">
                <a:solidFill>
                  <a:srgbClr val="434343"/>
                </a:solidFill>
                <a:latin typeface="Calibri"/>
                <a:cs typeface="Calibri"/>
              </a:rPr>
              <a:t>to</a:t>
            </a:r>
            <a:r>
              <a:rPr sz="1800" b="1" spc="15" dirty="0">
                <a:solidFill>
                  <a:srgbClr val="434343"/>
                </a:solidFill>
                <a:latin typeface="Calibri"/>
                <a:cs typeface="Calibri"/>
              </a:rPr>
              <a:t> </a:t>
            </a:r>
            <a:r>
              <a:rPr sz="1800" b="1" spc="90" dirty="0">
                <a:solidFill>
                  <a:srgbClr val="434343"/>
                </a:solidFill>
                <a:latin typeface="Calibri"/>
                <a:cs typeface="Calibri"/>
              </a:rPr>
              <a:t>your:</a:t>
            </a:r>
            <a:endParaRPr sz="1800" dirty="0">
              <a:latin typeface="Calibri"/>
              <a:cs typeface="Calibri"/>
            </a:endParaRPr>
          </a:p>
          <a:p>
            <a:pPr marL="469265" indent="-398145">
              <a:lnSpc>
                <a:spcPct val="100000"/>
              </a:lnSpc>
              <a:spcBef>
                <a:spcPts val="2160"/>
              </a:spcBef>
              <a:buAutoNum type="arabicPeriod"/>
              <a:tabLst>
                <a:tab pos="469265" algn="l"/>
              </a:tabLst>
            </a:pPr>
            <a:r>
              <a:rPr sz="1800" b="1" spc="145" dirty="0">
                <a:solidFill>
                  <a:srgbClr val="434343"/>
                </a:solidFill>
                <a:latin typeface="Calibri"/>
                <a:cs typeface="Calibri"/>
              </a:rPr>
              <a:t>GitHub</a:t>
            </a:r>
            <a:r>
              <a:rPr sz="1800" b="1" spc="20" dirty="0">
                <a:solidFill>
                  <a:srgbClr val="434343"/>
                </a:solidFill>
                <a:latin typeface="Calibri"/>
                <a:cs typeface="Calibri"/>
              </a:rPr>
              <a:t> </a:t>
            </a:r>
            <a:r>
              <a:rPr sz="1800" b="1" spc="120" dirty="0">
                <a:solidFill>
                  <a:srgbClr val="434343"/>
                </a:solidFill>
                <a:latin typeface="Calibri"/>
                <a:cs typeface="Calibri"/>
              </a:rPr>
              <a:t>Public</a:t>
            </a:r>
            <a:r>
              <a:rPr sz="1800" b="1" spc="25" dirty="0">
                <a:solidFill>
                  <a:srgbClr val="434343"/>
                </a:solidFill>
                <a:latin typeface="Calibri"/>
                <a:cs typeface="Calibri"/>
              </a:rPr>
              <a:t> </a:t>
            </a:r>
            <a:r>
              <a:rPr sz="1800" b="1" spc="120" dirty="0">
                <a:solidFill>
                  <a:srgbClr val="434343"/>
                </a:solidFill>
                <a:latin typeface="Calibri"/>
                <a:cs typeface="Calibri"/>
              </a:rPr>
              <a:t>Repository</a:t>
            </a:r>
            <a:r>
              <a:rPr lang="en-US" sz="1800" b="1" spc="120" dirty="0">
                <a:solidFill>
                  <a:srgbClr val="434343"/>
                </a:solidFill>
                <a:latin typeface="Calibri"/>
                <a:cs typeface="Calibri"/>
                <a:hlinkClick r:id="rId2"/>
              </a:rPr>
              <a:t>:</a:t>
            </a:r>
            <a:r>
              <a:rPr lang="en-US" sz="1800" b="1" spc="120" dirty="0">
                <a:solidFill>
                  <a:srgbClr val="434343"/>
                </a:solidFill>
                <a:latin typeface="Calibri"/>
                <a:cs typeface="Calibri"/>
              </a:rPr>
              <a:t> https: </a:t>
            </a:r>
            <a:r>
              <a:rPr lang="en-US" sz="1800" spc="120" dirty="0">
                <a:solidFill>
                  <a:srgbClr val="434343"/>
                </a:solidFill>
                <a:latin typeface="Calibri"/>
                <a:cs typeface="Calibri"/>
                <a:hlinkClick r:id="rId3"/>
              </a:rPr>
              <a:t>//github.com/chandrikajogi32-art/AI-for-Agriculture-Predicting-Water-Scarcity/blob/main/README.md</a:t>
            </a:r>
            <a:endParaRPr lang="en-US" sz="1800" spc="120" dirty="0">
              <a:solidFill>
                <a:srgbClr val="434343"/>
              </a:solidFill>
              <a:latin typeface="Calibri"/>
              <a:cs typeface="Calibri"/>
            </a:endParaRPr>
          </a:p>
          <a:p>
            <a:pPr marL="469265" indent="-398145">
              <a:lnSpc>
                <a:spcPct val="100000"/>
              </a:lnSpc>
              <a:spcBef>
                <a:spcPts val="2160"/>
              </a:spcBef>
              <a:buAutoNum type="arabicPeriod"/>
              <a:tabLst>
                <a:tab pos="469265" algn="l"/>
              </a:tabLst>
            </a:pPr>
            <a:r>
              <a:rPr lang="en-US" sz="1800" spc="120" dirty="0">
                <a:solidFill>
                  <a:srgbClr val="434343"/>
                </a:solidFill>
                <a:latin typeface="Calibri"/>
                <a:cs typeface="Calibri"/>
              </a:rPr>
              <a:t> </a:t>
            </a:r>
            <a:r>
              <a:rPr sz="1800" b="1" spc="155" dirty="0">
                <a:solidFill>
                  <a:srgbClr val="434343"/>
                </a:solidFill>
                <a:latin typeface="Calibri"/>
                <a:cs typeface="Calibri"/>
              </a:rPr>
              <a:t>Demo</a:t>
            </a:r>
            <a:r>
              <a:rPr sz="1800" b="1" spc="15" dirty="0">
                <a:solidFill>
                  <a:srgbClr val="434343"/>
                </a:solidFill>
                <a:latin typeface="Calibri"/>
                <a:cs typeface="Calibri"/>
              </a:rPr>
              <a:t> </a:t>
            </a:r>
            <a:r>
              <a:rPr sz="1800" b="1" spc="120" dirty="0">
                <a:solidFill>
                  <a:srgbClr val="434343"/>
                </a:solidFill>
                <a:latin typeface="Calibri"/>
                <a:cs typeface="Calibri"/>
              </a:rPr>
              <a:t>Video</a:t>
            </a:r>
            <a:r>
              <a:rPr sz="1800" b="1" spc="15" dirty="0">
                <a:solidFill>
                  <a:srgbClr val="434343"/>
                </a:solidFill>
                <a:latin typeface="Calibri"/>
                <a:cs typeface="Calibri"/>
              </a:rPr>
              <a:t> </a:t>
            </a:r>
            <a:r>
              <a:rPr sz="1800" b="1" spc="120" dirty="0">
                <a:solidFill>
                  <a:srgbClr val="434343"/>
                </a:solidFill>
                <a:latin typeface="Calibri"/>
                <a:cs typeface="Calibri"/>
              </a:rPr>
              <a:t>Link</a:t>
            </a:r>
            <a:r>
              <a:rPr sz="1800" b="1" spc="15" dirty="0">
                <a:solidFill>
                  <a:srgbClr val="434343"/>
                </a:solidFill>
                <a:latin typeface="Calibri"/>
                <a:cs typeface="Calibri"/>
              </a:rPr>
              <a:t> </a:t>
            </a:r>
            <a:r>
              <a:rPr sz="1800" b="1" spc="100" dirty="0">
                <a:solidFill>
                  <a:srgbClr val="434343"/>
                </a:solidFill>
                <a:latin typeface="Calibri"/>
                <a:cs typeface="Calibri"/>
              </a:rPr>
              <a:t>(3</a:t>
            </a:r>
            <a:r>
              <a:rPr sz="1800" b="1" spc="15" dirty="0">
                <a:solidFill>
                  <a:srgbClr val="434343"/>
                </a:solidFill>
                <a:latin typeface="Calibri"/>
                <a:cs typeface="Calibri"/>
              </a:rPr>
              <a:t> </a:t>
            </a:r>
            <a:r>
              <a:rPr sz="1800" b="1" spc="85" dirty="0">
                <a:solidFill>
                  <a:srgbClr val="434343"/>
                </a:solidFill>
                <a:latin typeface="Calibri"/>
                <a:cs typeface="Calibri"/>
              </a:rPr>
              <a:t>Minutes)</a:t>
            </a:r>
            <a:r>
              <a:rPr lang="en-US" sz="1800" b="1" spc="85" dirty="0">
                <a:solidFill>
                  <a:srgbClr val="434343"/>
                </a:solidFill>
                <a:latin typeface="Calibri"/>
                <a:cs typeface="Calibri"/>
              </a:rPr>
              <a:t>:</a:t>
            </a:r>
            <a:endParaRPr sz="1800" dirty="0">
              <a:latin typeface="Calibri"/>
              <a:cs typeface="Calibri"/>
            </a:endParaRPr>
          </a:p>
          <a:p>
            <a:pPr marL="469265" indent="-425450">
              <a:lnSpc>
                <a:spcPct val="100000"/>
              </a:lnSpc>
              <a:buAutoNum type="arabicPeriod"/>
              <a:tabLst>
                <a:tab pos="469265" algn="l"/>
              </a:tabLst>
            </a:pPr>
            <a:r>
              <a:rPr sz="1800" b="1" spc="105" dirty="0">
                <a:solidFill>
                  <a:srgbClr val="434343"/>
                </a:solidFill>
                <a:latin typeface="Calibri"/>
                <a:cs typeface="Calibri"/>
              </a:rPr>
              <a:t>MVP</a:t>
            </a:r>
            <a:r>
              <a:rPr sz="1800" b="1" spc="15" dirty="0">
                <a:solidFill>
                  <a:srgbClr val="434343"/>
                </a:solidFill>
                <a:latin typeface="Calibri"/>
                <a:cs typeface="Calibri"/>
              </a:rPr>
              <a:t> </a:t>
            </a:r>
            <a:r>
              <a:rPr sz="1800" b="1" spc="100" dirty="0">
                <a:solidFill>
                  <a:srgbClr val="434343"/>
                </a:solidFill>
                <a:latin typeface="Calibri"/>
                <a:cs typeface="Calibri"/>
              </a:rPr>
              <a:t>Link</a:t>
            </a:r>
            <a:r>
              <a:rPr lang="en-US" sz="1800" b="1" spc="100" dirty="0">
                <a:solidFill>
                  <a:srgbClr val="434343"/>
                </a:solidFill>
                <a:latin typeface="Calibri"/>
                <a:cs typeface="Calibri"/>
              </a:rPr>
              <a:t>:</a:t>
            </a:r>
            <a:endParaRPr sz="1800" dirty="0">
              <a:latin typeface="Calibri"/>
              <a:cs typeface="Calibri"/>
            </a:endParaRPr>
          </a:p>
        </p:txBody>
      </p:sp>
      <p:pic>
        <p:nvPicPr>
          <p:cNvPr id="3" name="object 3"/>
          <p:cNvPicPr/>
          <p:nvPr/>
        </p:nvPicPr>
        <p:blipFill>
          <a:blip r:embed="rId4" cstate="print"/>
          <a:stretch>
            <a:fillRect/>
          </a:stretch>
        </p:blipFill>
        <p:spPr>
          <a:xfrm>
            <a:off x="159800" y="174174"/>
            <a:ext cx="1826526" cy="32742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320" dirty="0"/>
              <a:t>Thank</a:t>
            </a:r>
            <a:r>
              <a:rPr spc="50" dirty="0"/>
              <a:t> </a:t>
            </a:r>
            <a:r>
              <a:rPr spc="170" dirty="0"/>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520</TotalTime>
  <Words>1186</Words>
  <Application>Microsoft Office PowerPoint</Application>
  <PresentationFormat>On-screen Show (16:9)</PresentationFormat>
  <Paragraphs>87</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Arial</vt:lpstr>
      <vt:lpstr>Calibri</vt:lpstr>
      <vt:lpstr>Office Theme</vt:lpstr>
      <vt:lpstr>PowerPoint Presentation</vt:lpstr>
      <vt:lpstr>                                                                            Problem statement:        “An AI-powered sensor system that protects crops and saves water by alerting farmers before  failure occurs.”</vt:lpstr>
      <vt:lpstr>Brief about your solution and problem statement addressing </vt:lpstr>
      <vt:lpstr>                                                        Opportunities</vt:lpstr>
      <vt:lpstr>🌱 Real-Time Soil Moisture Monitoring Continuously measures soil water content using field sensors. 🌦 Weather &amp; Rainfall Detection Tracks temperature, humidity, and rainfall conditions affecting crops. 🤖 AI-Based Water Scarcity Prediction Predicts upcoming water shortage based on sensor data patterns. 🌾 Crop Failure Risk Prediction Identifies early signs of crop stress and potential failure. 🚨 Early Warning Alerts Provides alerts using LED indicators and buzzer signals. 🔁 Automatic Irrigation Control Automatically switches irrigation ON/OFF to prevent under or over-watering. 👨‍🌾 Farmer-Friendly Hardware Interface Works without smartphones, apps, or literacy. ⚡ Low-Cost &amp; Energy Efficient Design Suitable for rural deployment, optional solar power support. 🌍 Supports Sustainable Agriculture Saves water, improves yield, and reduces resource wastage.</vt:lpstr>
      <vt:lpstr>PowerPoint Presentation</vt:lpstr>
      <vt:lpstr>PowerPoint Presentation</vt:lpstr>
      <vt:lpstr>PowerPoint Presentation</vt:lpstr>
      <vt:lpstr>PowerPoint Presentation</vt:lpstr>
      <vt:lpstr>Additional Ideas</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 GDG on Campus - TechSprint Slides Template</dc:title>
  <dc:creator>chandrika jogi</dc:creator>
  <cp:lastModifiedBy>chandrika jogi</cp:lastModifiedBy>
  <cp:revision>6</cp:revision>
  <dcterms:created xsi:type="dcterms:W3CDTF">2025-12-26T14:18:39Z</dcterms:created>
  <dcterms:modified xsi:type="dcterms:W3CDTF">2025-12-28T14:19:38Z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2025-12-26T00:00:00Z</vt:filetime>
  </property>
  <property fmtid="{D5CDD505-2E9C-101B-9397-08002B2CF9AE}" pid="3" name="Creator">
    <vt:lpwstr>Google</vt:lpwstr>
  </property>
  <property fmtid="{D5CDD505-2E9C-101B-9397-08002B2CF9AE}" pid="4" name="LastSaved">
    <vt:filetime>2025-12-26T00:00:00Z</vt:filetime>
  </property>
</Properties>
</file>